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5" r:id="rId18"/>
    <p:sldId id="272" r:id="rId19"/>
    <p:sldId id="273" r:id="rId20"/>
    <p:sldId id="274" r:id="rId21"/>
    <p:sldId id="293" r:id="rId22"/>
    <p:sldId id="275" r:id="rId23"/>
    <p:sldId id="276" r:id="rId24"/>
    <p:sldId id="277" r:id="rId25"/>
    <p:sldId id="297" r:id="rId26"/>
    <p:sldId id="278" r:id="rId27"/>
    <p:sldId id="279" r:id="rId28"/>
    <p:sldId id="280" r:id="rId29"/>
    <p:sldId id="296" r:id="rId30"/>
    <p:sldId id="281" r:id="rId31"/>
    <p:sldId id="282" r:id="rId32"/>
    <p:sldId id="283" r:id="rId33"/>
    <p:sldId id="294" r:id="rId34"/>
    <p:sldId id="284" r:id="rId35"/>
    <p:sldId id="285" r:id="rId36"/>
    <p:sldId id="286" r:id="rId37"/>
    <p:sldId id="287" r:id="rId38"/>
    <p:sldId id="288" r:id="rId39"/>
    <p:sldId id="289" r:id="rId40"/>
    <p:sldId id="29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4"/>
            <a:ext cx="12192000" cy="6841132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660400" y="1282700"/>
            <a:ext cx="10858498" cy="1980747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ubTitle" sz="quarter" idx="1"/>
          </p:nvPr>
        </p:nvSpPr>
        <p:spPr>
          <a:xfrm>
            <a:off x="3762375" y="3481979"/>
            <a:ext cx="4654552" cy="628195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9050">
            <a:gradFill>
              <a:gsLst>
                <a:gs pos="0">
                  <a:srgbClr val="8958EE">
                    <a:lumMod val="5000"/>
                    <a:lumOff val="95000"/>
                  </a:srgbClr>
                </a:gs>
                <a:gs pos="74000">
                  <a:srgbClr val="8958EE">
                    <a:lumMod val="45000"/>
                    <a:lumOff val="55000"/>
                  </a:srgbClr>
                </a:gs>
                <a:gs pos="83000">
                  <a:srgbClr val="8958EE">
                    <a:lumMod val="45000"/>
                    <a:lumOff val="55000"/>
                  </a:srgbClr>
                </a:gs>
                <a:gs pos="100000">
                  <a:srgbClr val="8958EE">
                    <a:lumMod val="30000"/>
                    <a:lumOff val="70000"/>
                  </a:srgbClr>
                </a:gs>
              </a:gsLst>
              <a:lin ang="5400000"/>
            </a:gradFill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85750" indent="-28575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742950" lvl="1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00150" lvl="2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57350" lvl="3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114550" lvl="4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vert="horz" wrap="none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457200" indent="-457200" algn="l">
              <a:lnSpc>
                <a:spcPct val="130000"/>
              </a:lnSpc>
              <a:spcBef>
                <a:spcPts val="1000"/>
              </a:spcBef>
            </a:pPr>
            <a:r>
              <a:rPr lang="en-US" sz="24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5" name="Connector 5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>
              <a:solidFill>
                <a:srgbClr val="000000">
                  <a:alpha val="50000"/>
                </a:srgbClr>
              </a:solidFill>
              <a:prstDash val="solid"/>
            </a:ln>
          </p:spPr>
        </p:cxnSp>
        <p:sp>
          <p:nvSpPr>
            <p:cNvPr id="6" name="Freeform 6"/>
            <p:cNvSpPr/>
            <p:nvPr/>
          </p:nvSpPr>
          <p:spPr>
            <a:xfrm>
              <a:off x="2626456" y="5219207"/>
              <a:ext cx="870506" cy="915667"/>
            </a:xfrm>
            <a:custGeom>
              <a:avLst/>
              <a:gdLst/>
              <a:ahLst/>
              <a:cxnLst/>
              <a:rect l="l" t="t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000000">
                <a:alpha val="15000"/>
              </a:srgbClr>
            </a:solidFill>
            <a:ln>
              <a:noFill/>
            </a:ln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4"/>
            <a:ext cx="12192000" cy="6841132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title"/>
          </p:nvPr>
        </p:nvSpPr>
        <p:spPr>
          <a:xfrm>
            <a:off x="3238501" y="2328408"/>
            <a:ext cx="5702300" cy="1256906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"/>
          </p:nvPr>
        </p:nvSpPr>
        <p:spPr>
          <a:xfrm>
            <a:off x="3238501" y="3597168"/>
            <a:ext cx="5702300" cy="23645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4"/>
            <a:ext cx="12192000" cy="6841132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1714500" y="1317624"/>
            <a:ext cx="8750300" cy="1980747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ubTitle" sz="quarter" idx="1"/>
          </p:nvPr>
        </p:nvSpPr>
        <p:spPr>
          <a:xfrm>
            <a:off x="1714500" y="3524250"/>
            <a:ext cx="8750300" cy="85471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2024/8/15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7" name="image1.png"/>
          <p:cNvPicPr>
            <a:picLocks noChangeAspect="1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-15033" y="0"/>
            <a:ext cx="12222066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660400" y="1324455"/>
            <a:ext cx="10858498" cy="1938992"/>
          </a:xfrm>
        </p:spPr>
        <p:txBody>
          <a:bodyPr vert="horz" wrap="square" lIns="91440" tIns="45720" rIns="91440" bIns="45720" anchor="b">
            <a:spAutoFit/>
          </a:bodyPr>
          <a:lstStyle/>
          <a:p>
            <a:r>
              <a:rPr lang="en-US" sz="6000" dirty="0">
                <a:latin typeface="Berlin Sans FB Demi" panose="020E0802020502020306" pitchFamily="34" charset="0"/>
              </a:rPr>
              <a:t>Apple iTunes Business Intelligence Dashboard</a:t>
            </a:r>
            <a:endParaRPr lang="zh-CN" altLang="en-US" sz="6000" b="1" i="0" u="none" baseline="0" dirty="0">
              <a:solidFill>
                <a:srgbClr val="000000"/>
              </a:solidFill>
              <a:latin typeface="Berlin Sans FB Demi" panose="020E0802020502020306" pitchFamily="34" charset="0"/>
              <a:ea typeface="微软雅黑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subTitle" sz="quarter" idx="1"/>
          </p:nvPr>
        </p:nvSpPr>
        <p:spPr>
          <a:xfrm>
            <a:off x="3844925" y="4800600"/>
            <a:ext cx="4654550" cy="628650"/>
          </a:xfrm>
          <a:solidFill>
            <a:srgbClr val="FFFFFF">
              <a:alpha val="20000"/>
            </a:srgbClr>
          </a:solidFill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altLang="zh-CN" sz="1800" b="0" i="0" u="none" baseline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Created By :- AYUSH DASH</a:t>
            </a:r>
            <a:endParaRPr lang="zh-CN" altLang="en-US" sz="1800" b="0" i="0" u="none" baseline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34B9224-51E1-F572-2324-68D1986CB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937" y="466221"/>
            <a:ext cx="2143424" cy="8478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5CC158-8473-735A-CC21-A7B1601F88B6}"/>
              </a:ext>
            </a:extLst>
          </p:cNvPr>
          <p:cNvCxnSpPr/>
          <p:nvPr/>
        </p:nvCxnSpPr>
        <p:spPr>
          <a:xfrm>
            <a:off x="1295400" y="3352800"/>
            <a:ext cx="96774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ED5DCF4-3469-EED0-14C3-4633E03EB362}"/>
              </a:ext>
            </a:extLst>
          </p:cNvPr>
          <p:cNvSpPr txBox="1"/>
          <p:nvPr/>
        </p:nvSpPr>
        <p:spPr>
          <a:xfrm>
            <a:off x="2286000" y="3695708"/>
            <a:ext cx="7772400" cy="380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Music Analytics &amp; Consumer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038BF-005A-22F8-AEE9-9987923CB403}"/>
              </a:ext>
            </a:extLst>
          </p:cNvPr>
          <p:cNvSpPr txBox="1"/>
          <p:nvPr/>
        </p:nvSpPr>
        <p:spPr>
          <a:xfrm>
            <a:off x="2209800" y="6201281"/>
            <a:ext cx="7772400" cy="380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Developed using Power BI, SQL &amp; DAX</a:t>
            </a:r>
            <a:endParaRPr lang="en-IN" dirty="0"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5229322" y="137809"/>
            <a:ext cx="1529586" cy="674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90000" rIns="91440" bIns="90000" anchor="b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sz="3200" b="1" i="0" u="none" baseline="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Agenda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1028700"/>
            <a:ext cx="12192000" cy="1943100"/>
            <a:chOff x="0" y="1028700"/>
            <a:chExt cx="12192000" cy="1943100"/>
          </a:xfrm>
        </p:grpSpPr>
        <p:sp>
          <p:nvSpPr>
            <p:cNvPr id="4" name="AutoShape 4"/>
            <p:cNvSpPr/>
            <p:nvPr/>
          </p:nvSpPr>
          <p:spPr>
            <a:xfrm>
              <a:off x="0" y="1028700"/>
              <a:ext cx="12192000" cy="1943100"/>
            </a:xfrm>
            <a:prstGeom prst="rect">
              <a:avLst/>
            </a:prstGeom>
            <a:blipFill>
              <a:blip r:embed="rId2"/>
              <a:srcRect/>
              <a:stretch>
                <a:fillRect t="-159020" b="-159020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028700"/>
              <a:ext cx="12192000" cy="1943100"/>
            </a:xfrm>
            <a:prstGeom prst="rect">
              <a:avLst/>
            </a:prstGeom>
            <a:blipFill>
              <a:blip r:embed="rId3"/>
              <a:srcRect/>
              <a:stretch>
                <a:fillRect t="-127451" b="-58824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364962" y="3522741"/>
            <a:ext cx="2483059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Business Goals</a:t>
            </a:r>
          </a:p>
        </p:txBody>
      </p:sp>
      <p:sp>
        <p:nvSpPr>
          <p:cNvPr id="7" name="AutoShape 7"/>
          <p:cNvSpPr/>
          <p:nvPr/>
        </p:nvSpPr>
        <p:spPr>
          <a:xfrm>
            <a:off x="446178" y="3315203"/>
            <a:ext cx="828644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4400" b="1" i="0" u="none" baseline="0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1288764" y="3450694"/>
            <a:ext cx="0" cy="508943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9" name="AutoShape 9"/>
          <p:cNvSpPr/>
          <p:nvPr/>
        </p:nvSpPr>
        <p:spPr>
          <a:xfrm>
            <a:off x="2655338" y="4756405"/>
            <a:ext cx="2483066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Dataset Architecture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750496" y="4549916"/>
            <a:ext cx="828644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4400" b="1" i="0" u="none" baseline="0">
                <a:solidFill>
                  <a:schemeClr val="accent2"/>
                </a:solidFill>
                <a:latin typeface="Arial"/>
                <a:ea typeface="Arial"/>
              </a:rPr>
              <a:t>02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2593082" y="4686600"/>
            <a:ext cx="0" cy="508943"/>
          </a:xfrm>
          <a:prstGeom prst="line">
            <a:avLst/>
          </a:prstGeom>
          <a:ln w="25400">
            <a:solidFill>
              <a:schemeClr val="accent2"/>
            </a:solidFill>
          </a:ln>
        </p:spPr>
      </p:cxnSp>
      <p:sp>
        <p:nvSpPr>
          <p:cNvPr id="12" name="AutoShape 12"/>
          <p:cNvSpPr/>
          <p:nvPr/>
        </p:nvSpPr>
        <p:spPr>
          <a:xfrm>
            <a:off x="4843019" y="3515258"/>
            <a:ext cx="2483067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Technology Stack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924234" y="3315203"/>
            <a:ext cx="828644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4400" b="1" i="0" u="none" baseline="0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4766820" y="3452936"/>
            <a:ext cx="0" cy="508943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15" name="AutoShape 15"/>
          <p:cNvSpPr/>
          <p:nvPr/>
        </p:nvSpPr>
        <p:spPr>
          <a:xfrm>
            <a:off x="6147338" y="4742488"/>
            <a:ext cx="248306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Dashboard Architecture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228552" y="4546022"/>
            <a:ext cx="828644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4400" b="1" i="0" u="none" baseline="0">
                <a:solidFill>
                  <a:schemeClr val="accent2"/>
                </a:solidFill>
                <a:latin typeface="Arial"/>
                <a:ea typeface="Arial"/>
              </a:rPr>
              <a:t>04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6071138" y="4680166"/>
            <a:ext cx="0" cy="508943"/>
          </a:xfrm>
          <a:prstGeom prst="line">
            <a:avLst/>
          </a:prstGeom>
          <a:ln w="25400">
            <a:solidFill>
              <a:schemeClr val="accent2"/>
            </a:solidFill>
          </a:ln>
        </p:spPr>
      </p:cxnSp>
      <p:sp>
        <p:nvSpPr>
          <p:cNvPr id="18" name="AutoShape 18"/>
          <p:cNvSpPr/>
          <p:nvPr/>
        </p:nvSpPr>
        <p:spPr>
          <a:xfrm>
            <a:off x="8321075" y="3515258"/>
            <a:ext cx="248306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Executive Overview Dashboard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402290" y="3315202"/>
            <a:ext cx="828644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4400" b="1" i="0" u="none" baseline="0">
                <a:solidFill>
                  <a:schemeClr val="accent1"/>
                </a:solidFill>
                <a:latin typeface="Arial"/>
                <a:ea typeface="Arial"/>
              </a:rPr>
              <a:t>05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8244876" y="3452936"/>
            <a:ext cx="0" cy="508943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21" name="AutoShape 21"/>
          <p:cNvSpPr/>
          <p:nvPr/>
        </p:nvSpPr>
        <p:spPr>
          <a:xfrm>
            <a:off x="9625390" y="4742489"/>
            <a:ext cx="2483061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Customer Intelligence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706606" y="4546022"/>
            <a:ext cx="828644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4400" b="1" i="0" u="none" baseline="0">
                <a:solidFill>
                  <a:schemeClr val="accent2"/>
                </a:solidFill>
                <a:latin typeface="Arial"/>
                <a:ea typeface="Arial"/>
              </a:rPr>
              <a:t>06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9549192" y="4680166"/>
            <a:ext cx="0" cy="508943"/>
          </a:xfrm>
          <a:prstGeom prst="line">
            <a:avLst/>
          </a:prstGeom>
          <a:ln w="25400">
            <a:solidFill>
              <a:schemeClr val="accent2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Business Goals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Customer Intelligence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5032763"/>
            <a:ext cx="1938713" cy="1825237"/>
          </a:xfrm>
          <a:custGeom>
            <a:avLst/>
            <a:gdLst/>
            <a:ahLst/>
            <a:cxnLst/>
            <a:rect l="l" t="t" r="r" b="b"/>
            <a:pathLst>
              <a:path w="1938713" h="1825237">
                <a:moveTo>
                  <a:pt x="15884" y="321"/>
                </a:moveTo>
                <a:cubicBezTo>
                  <a:pt x="29533" y="-443"/>
                  <a:pt x="43462" y="150"/>
                  <a:pt x="57515" y="2215"/>
                </a:cubicBezTo>
                <a:lnTo>
                  <a:pt x="1762861" y="252862"/>
                </a:lnTo>
                <a:cubicBezTo>
                  <a:pt x="1875282" y="269385"/>
                  <a:pt x="1953022" y="373915"/>
                  <a:pt x="1936499" y="486336"/>
                </a:cubicBezTo>
                <a:lnTo>
                  <a:pt x="1739711" y="1825237"/>
                </a:lnTo>
                <a:lnTo>
                  <a:pt x="0" y="1825237"/>
                </a:lnTo>
                <a:lnTo>
                  <a:pt x="0" y="280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1007434">
            <a:off x="8521318" y="1293558"/>
            <a:ext cx="2964191" cy="2964191"/>
          </a:xfrm>
          <a:prstGeom prst="roundRect">
            <a:avLst>
              <a:gd name="adj" fmla="val 847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rot="20254751">
            <a:off x="8562953" y="4416313"/>
            <a:ext cx="422457" cy="422457"/>
          </a:xfrm>
          <a:prstGeom prst="roundRect">
            <a:avLst/>
          </a:prstGeom>
          <a:solidFill>
            <a:schemeClr val="accent1">
              <a:alpha val="25000"/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 rot="21111537">
            <a:off x="10776093" y="653346"/>
            <a:ext cx="447059" cy="447059"/>
          </a:xfrm>
          <a:prstGeom prst="roundRect">
            <a:avLst/>
          </a:prstGeom>
          <a:solidFill>
            <a:schemeClr val="accent1">
              <a:alpha val="40000"/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>
            <a:off x="2190690" y="2294582"/>
            <a:ext cx="808892" cy="0"/>
          </a:xfrm>
          <a:prstGeom prst="line">
            <a:avLst/>
          </a:prstGeom>
          <a:ln w="69850" cap="rnd">
            <a:solidFill>
              <a:schemeClr val="accent1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3304383" y="2294582"/>
            <a:ext cx="2321169" cy="0"/>
          </a:xfrm>
          <a:prstGeom prst="line">
            <a:avLst/>
          </a:prstGeom>
          <a:ln w="69850" cap="rnd">
            <a:solidFill>
              <a:schemeClr val="accent1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2058466" y="2535126"/>
            <a:ext cx="5096936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Understand customer behavior and purchasing trends to drive targeted marketing.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058466" y="1835757"/>
            <a:ext cx="5096936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Objective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Content Analysis</a:t>
            </a:r>
          </a:p>
        </p:txBody>
      </p:sp>
      <p:sp>
        <p:nvSpPr>
          <p:cNvPr id="3" name="Freeform 3"/>
          <p:cNvSpPr/>
          <p:nvPr/>
        </p:nvSpPr>
        <p:spPr>
          <a:xfrm>
            <a:off x="719528" y="1221452"/>
            <a:ext cx="10799371" cy="5636547"/>
          </a:xfrm>
          <a:custGeom>
            <a:avLst/>
            <a:gdLst/>
            <a:ahLst/>
            <a:cxnLst/>
            <a:rect l="l" t="t" r="r" b="b"/>
            <a:pathLst>
              <a:path w="9545698" h="5323562">
                <a:moveTo>
                  <a:pt x="343874" y="0"/>
                </a:moveTo>
                <a:lnTo>
                  <a:pt x="9201824" y="0"/>
                </a:lnTo>
                <a:cubicBezTo>
                  <a:pt x="9391740" y="0"/>
                  <a:pt x="9545698" y="153958"/>
                  <a:pt x="9545698" y="343874"/>
                </a:cubicBezTo>
                <a:lnTo>
                  <a:pt x="9545698" y="5323562"/>
                </a:lnTo>
                <a:lnTo>
                  <a:pt x="0" y="5323562"/>
                </a:lnTo>
                <a:lnTo>
                  <a:pt x="0" y="343874"/>
                </a:lnTo>
                <a:cubicBezTo>
                  <a:pt x="0" y="153958"/>
                  <a:pt x="153958" y="0"/>
                  <a:pt x="343874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449293" y="1710125"/>
            <a:ext cx="3340100" cy="4834890"/>
          </a:xfrm>
          <a:custGeom>
            <a:avLst/>
            <a:gdLst/>
            <a:ahLst/>
            <a:cxnLst/>
            <a:rect l="l" t="t" r="r" b="b"/>
            <a:pathLst>
              <a:path w="3340100" h="4834890">
                <a:moveTo>
                  <a:pt x="194294" y="0"/>
                </a:moveTo>
                <a:lnTo>
                  <a:pt x="3145806" y="0"/>
                </a:lnTo>
                <a:cubicBezTo>
                  <a:pt x="3253112" y="0"/>
                  <a:pt x="3340100" y="86988"/>
                  <a:pt x="3340100" y="194294"/>
                </a:cubicBezTo>
                <a:lnTo>
                  <a:pt x="3340100" y="4834890"/>
                </a:lnTo>
                <a:lnTo>
                  <a:pt x="0" y="4834890"/>
                </a:lnTo>
                <a:lnTo>
                  <a:pt x="0" y="194294"/>
                </a:lnTo>
                <a:cubicBezTo>
                  <a:pt x="0" y="86988"/>
                  <a:pt x="86988" y="0"/>
                  <a:pt x="194294" y="0"/>
                </a:cubicBez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2767" y="2427441"/>
            <a:ext cx="5719940" cy="4001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Objective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022767" y="3215323"/>
            <a:ext cx="5719940" cy="4533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Identify the most and least popular genres, tracks, and artists for strategic curation.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5151899" y="2956808"/>
            <a:ext cx="879944" cy="0"/>
          </a:xfrm>
          <a:prstGeom prst="line">
            <a:avLst/>
          </a:prstGeom>
          <a:ln w="69850" cap="rnd">
            <a:solidFill>
              <a:schemeClr val="accent1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6265592" y="2956808"/>
            <a:ext cx="2525057" cy="0"/>
          </a:xfrm>
          <a:prstGeom prst="line">
            <a:avLst/>
          </a:prstGeom>
          <a:ln w="69850" cap="rnd">
            <a:solidFill>
              <a:schemeClr val="accent1"/>
            </a:solidFill>
          </a:ln>
        </p:spPr>
      </p:cxn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Performance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39587" y="1504004"/>
            <a:ext cx="6840000" cy="3960000"/>
          </a:xfrm>
          <a:prstGeom prst="rect">
            <a:avLst/>
          </a:prstGeom>
          <a:solidFill>
            <a:schemeClr val="bg1"/>
          </a:solidFill>
          <a:ln cap="sq">
            <a:noFill/>
            <a:miter lim="800000"/>
          </a:ln>
          <a:effectLst>
            <a:outerShdw blurRad="317500" dist="127000" dir="2700000" sx="104000" sy="104000" algn="ctr" rotWithShape="0">
              <a:schemeClr val="accent1">
                <a:alpha val="10000"/>
                <a:lumMod val="75000"/>
              </a:schemeClr>
            </a:outerShdw>
          </a:effectLst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 flipH="1">
            <a:off x="660400" y="2486391"/>
            <a:ext cx="4404581" cy="3388139"/>
          </a:xfrm>
          <a:prstGeom prst="roundRect">
            <a:avLst>
              <a:gd name="adj" fmla="val 5758"/>
            </a:avLst>
          </a:prstGeom>
          <a:blipFill>
            <a:blip r:embed="rId2"/>
            <a:stretch>
              <a:fillRect l="-11539" t="-10000" r="-26923" b="-10000"/>
            </a:stretch>
          </a:blipFill>
          <a:ln cap="sq">
            <a:noFill/>
            <a:miter lim="800000"/>
          </a:ln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5479943" y="2486391"/>
            <a:ext cx="5400000" cy="931409"/>
          </a:xfrm>
          <a:prstGeom prst="rect">
            <a:avLst/>
          </a:prstGeom>
          <a:noFill/>
          <a:ln cap="sq">
            <a:noFill/>
            <a:miter lim="800000"/>
          </a:ln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/>
                </a:solidFill>
                <a:latin typeface="+mn-ea"/>
                <a:ea typeface="+mn-ea"/>
              </a:rPr>
              <a:t>Evaluate sales performance across employees and regions to optimize operations.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4787152" y="1876291"/>
            <a:ext cx="506594" cy="402033"/>
          </a:xfrm>
          <a:custGeom>
            <a:avLst/>
            <a:gdLst/>
            <a:ahLst/>
            <a:cxnLst/>
            <a:rect l="l" t="t" r="r" b="b"/>
            <a:pathLst>
              <a:path w="431250" h="342240">
                <a:moveTo>
                  <a:pt x="431250" y="0"/>
                </a:moveTo>
                <a:lnTo>
                  <a:pt x="431250" y="74003"/>
                </a:lnTo>
                <a:cubicBezTo>
                  <a:pt x="377945" y="74028"/>
                  <a:pt x="334333" y="116456"/>
                  <a:pt x="332839" y="169740"/>
                </a:cubicBezTo>
                <a:lnTo>
                  <a:pt x="431250" y="169740"/>
                </a:lnTo>
                <a:lnTo>
                  <a:pt x="431250" y="342240"/>
                </a:lnTo>
                <a:lnTo>
                  <a:pt x="258750" y="342240"/>
                </a:lnTo>
                <a:lnTo>
                  <a:pt x="258750" y="169740"/>
                </a:lnTo>
                <a:cubicBezTo>
                  <a:pt x="260258" y="75551"/>
                  <a:pt x="337049" y="-12"/>
                  <a:pt x="431250" y="0"/>
                </a:cubicBezTo>
                <a:close/>
                <a:moveTo>
                  <a:pt x="172500" y="0"/>
                </a:moveTo>
                <a:lnTo>
                  <a:pt x="172500" y="74003"/>
                </a:lnTo>
                <a:cubicBezTo>
                  <a:pt x="119195" y="74028"/>
                  <a:pt x="75583" y="116456"/>
                  <a:pt x="74089" y="169740"/>
                </a:cubicBezTo>
                <a:lnTo>
                  <a:pt x="172500" y="169740"/>
                </a:lnTo>
                <a:lnTo>
                  <a:pt x="172500" y="342240"/>
                </a:lnTo>
                <a:lnTo>
                  <a:pt x="0" y="342240"/>
                </a:lnTo>
                <a:lnTo>
                  <a:pt x="0" y="169740"/>
                </a:lnTo>
                <a:cubicBezTo>
                  <a:pt x="1508" y="75551"/>
                  <a:pt x="78299" y="-12"/>
                  <a:pt x="1725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miter lim="800000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0827270" y="1324104"/>
            <a:ext cx="483261" cy="576000"/>
            <a:chOff x="10827270" y="1324104"/>
            <a:chExt cx="483261" cy="576000"/>
          </a:xfrm>
        </p:grpSpPr>
        <p:sp>
          <p:nvSpPr>
            <p:cNvPr id="8" name="Freeform 8"/>
            <p:cNvSpPr/>
            <p:nvPr/>
          </p:nvSpPr>
          <p:spPr>
            <a:xfrm>
              <a:off x="11003505" y="1793654"/>
              <a:ext cx="130944" cy="28808"/>
            </a:xfrm>
            <a:custGeom>
              <a:avLst/>
              <a:gdLst/>
              <a:ahLst/>
              <a:cxnLst/>
              <a:rect l="l" t="t" r="r" b="b"/>
              <a:pathLst>
                <a:path w="359" h="79">
                  <a:moveTo>
                    <a:pt x="319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40"/>
                  </a:cubicBezTo>
                  <a:cubicBezTo>
                    <a:pt x="0" y="61"/>
                    <a:pt x="17" y="79"/>
                    <a:pt x="39" y="79"/>
                  </a:cubicBezTo>
                  <a:cubicBezTo>
                    <a:pt x="319" y="79"/>
                    <a:pt x="319" y="79"/>
                    <a:pt x="319" y="79"/>
                  </a:cubicBezTo>
                  <a:cubicBezTo>
                    <a:pt x="341" y="79"/>
                    <a:pt x="359" y="61"/>
                    <a:pt x="359" y="40"/>
                  </a:cubicBezTo>
                  <a:cubicBezTo>
                    <a:pt x="359" y="18"/>
                    <a:pt x="341" y="0"/>
                    <a:pt x="319" y="0"/>
                  </a:cubicBezTo>
                  <a:close/>
                  <a:moveTo>
                    <a:pt x="319" y="0"/>
                  </a:moveTo>
                  <a:cubicBezTo>
                    <a:pt x="319" y="0"/>
                    <a:pt x="319" y="0"/>
                    <a:pt x="319" y="0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11011054" y="1843875"/>
              <a:ext cx="115693" cy="56229"/>
            </a:xfrm>
            <a:custGeom>
              <a:avLst/>
              <a:gdLst/>
              <a:ahLst/>
              <a:cxnLst/>
              <a:rect l="l" t="t" r="r" b="b"/>
              <a:pathLst>
                <a:path w="317" h="154">
                  <a:moveTo>
                    <a:pt x="86" y="92"/>
                  </a:moveTo>
                  <a:cubicBezTo>
                    <a:pt x="91" y="127"/>
                    <a:pt x="122" y="154"/>
                    <a:pt x="158" y="154"/>
                  </a:cubicBezTo>
                  <a:cubicBezTo>
                    <a:pt x="195" y="154"/>
                    <a:pt x="225" y="127"/>
                    <a:pt x="231" y="92"/>
                  </a:cubicBezTo>
                  <a:cubicBezTo>
                    <a:pt x="279" y="89"/>
                    <a:pt x="317" y="49"/>
                    <a:pt x="31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9"/>
                    <a:pt x="38" y="89"/>
                    <a:pt x="86" y="92"/>
                  </a:cubicBezTo>
                  <a:close/>
                  <a:moveTo>
                    <a:pt x="86" y="92"/>
                  </a:moveTo>
                  <a:cubicBezTo>
                    <a:pt x="86" y="92"/>
                    <a:pt x="86" y="92"/>
                    <a:pt x="86" y="92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049721" y="1324104"/>
              <a:ext cx="38359" cy="82726"/>
            </a:xfrm>
            <a:custGeom>
              <a:avLst/>
              <a:gdLst/>
              <a:ahLst/>
              <a:cxnLst/>
              <a:rect l="l" t="t" r="r" b="b"/>
              <a:pathLst>
                <a:path w="105" h="226">
                  <a:moveTo>
                    <a:pt x="52" y="227"/>
                  </a:moveTo>
                  <a:cubicBezTo>
                    <a:pt x="81" y="227"/>
                    <a:pt x="105" y="203"/>
                    <a:pt x="105" y="174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23"/>
                    <a:pt x="81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03"/>
                    <a:pt x="23" y="227"/>
                    <a:pt x="52" y="227"/>
                  </a:cubicBezTo>
                  <a:close/>
                  <a:moveTo>
                    <a:pt x="52" y="227"/>
                  </a:moveTo>
                  <a:cubicBezTo>
                    <a:pt x="52" y="227"/>
                    <a:pt x="52" y="227"/>
                    <a:pt x="52" y="227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911228" y="1365698"/>
              <a:ext cx="69323" cy="76872"/>
            </a:xfrm>
            <a:custGeom>
              <a:avLst/>
              <a:gdLst/>
              <a:ahLst/>
              <a:cxnLst/>
              <a:rect l="l" t="t" r="r" b="b"/>
              <a:pathLst>
                <a:path w="190" h="211">
                  <a:moveTo>
                    <a:pt x="88" y="189"/>
                  </a:moveTo>
                  <a:cubicBezTo>
                    <a:pt x="99" y="203"/>
                    <a:pt x="115" y="211"/>
                    <a:pt x="131" y="211"/>
                  </a:cubicBezTo>
                  <a:cubicBezTo>
                    <a:pt x="142" y="211"/>
                    <a:pt x="152" y="208"/>
                    <a:pt x="162" y="201"/>
                  </a:cubicBezTo>
                  <a:cubicBezTo>
                    <a:pt x="185" y="184"/>
                    <a:pt x="190" y="151"/>
                    <a:pt x="173" y="128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85" y="5"/>
                    <a:pt x="52" y="0"/>
                    <a:pt x="28" y="17"/>
                  </a:cubicBezTo>
                  <a:cubicBezTo>
                    <a:pt x="5" y="34"/>
                    <a:pt x="0" y="67"/>
                    <a:pt x="17" y="90"/>
                  </a:cubicBezTo>
                  <a:lnTo>
                    <a:pt x="88" y="189"/>
                  </a:lnTo>
                  <a:close/>
                  <a:moveTo>
                    <a:pt x="88" y="189"/>
                  </a:moveTo>
                  <a:cubicBezTo>
                    <a:pt x="88" y="189"/>
                    <a:pt x="88" y="189"/>
                    <a:pt x="88" y="18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156941" y="1704304"/>
              <a:ext cx="69786" cy="76564"/>
            </a:xfrm>
            <a:custGeom>
              <a:avLst/>
              <a:gdLst/>
              <a:ahLst/>
              <a:cxnLst/>
              <a:rect l="l" t="t" r="r" b="b"/>
              <a:pathLst>
                <a:path w="191" h="210">
                  <a:moveTo>
                    <a:pt x="102" y="29"/>
                  </a:moveTo>
                  <a:cubicBezTo>
                    <a:pt x="85" y="5"/>
                    <a:pt x="52" y="0"/>
                    <a:pt x="29" y="17"/>
                  </a:cubicBezTo>
                  <a:cubicBezTo>
                    <a:pt x="6" y="34"/>
                    <a:pt x="0" y="67"/>
                    <a:pt x="17" y="90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99" y="203"/>
                    <a:pt x="115" y="210"/>
                    <a:pt x="132" y="210"/>
                  </a:cubicBezTo>
                  <a:cubicBezTo>
                    <a:pt x="142" y="210"/>
                    <a:pt x="153" y="207"/>
                    <a:pt x="162" y="200"/>
                  </a:cubicBezTo>
                  <a:cubicBezTo>
                    <a:pt x="186" y="183"/>
                    <a:pt x="191" y="151"/>
                    <a:pt x="174" y="127"/>
                  </a:cubicBezTo>
                  <a:lnTo>
                    <a:pt x="102" y="29"/>
                  </a:lnTo>
                  <a:close/>
                  <a:moveTo>
                    <a:pt x="102" y="29"/>
                  </a:moveTo>
                  <a:cubicBezTo>
                    <a:pt x="102" y="29"/>
                    <a:pt x="102" y="29"/>
                    <a:pt x="102" y="2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827270" y="1481545"/>
              <a:ext cx="85037" cy="54380"/>
            </a:xfrm>
            <a:custGeom>
              <a:avLst/>
              <a:gdLst/>
              <a:ahLst/>
              <a:cxnLst/>
              <a:rect l="l" t="t" r="r" b="b"/>
              <a:pathLst>
                <a:path w="233" h="149">
                  <a:moveTo>
                    <a:pt x="191" y="47"/>
                  </a:moveTo>
                  <a:cubicBezTo>
                    <a:pt x="75" y="9"/>
                    <a:pt x="75" y="9"/>
                    <a:pt x="75" y="9"/>
                  </a:cubicBezTo>
                  <a:cubicBezTo>
                    <a:pt x="47" y="0"/>
                    <a:pt x="18" y="15"/>
                    <a:pt x="9" y="43"/>
                  </a:cubicBezTo>
                  <a:cubicBezTo>
                    <a:pt x="0" y="70"/>
                    <a:pt x="15" y="100"/>
                    <a:pt x="42" y="109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64" y="148"/>
                    <a:pt x="169" y="149"/>
                    <a:pt x="174" y="149"/>
                  </a:cubicBezTo>
                  <a:cubicBezTo>
                    <a:pt x="197" y="149"/>
                    <a:pt x="217" y="135"/>
                    <a:pt x="224" y="113"/>
                  </a:cubicBezTo>
                  <a:cubicBezTo>
                    <a:pt x="233" y="86"/>
                    <a:pt x="218" y="56"/>
                    <a:pt x="191" y="47"/>
                  </a:cubicBezTo>
                  <a:close/>
                  <a:moveTo>
                    <a:pt x="191" y="47"/>
                  </a:moveTo>
                  <a:cubicBezTo>
                    <a:pt x="191" y="47"/>
                    <a:pt x="191" y="47"/>
                    <a:pt x="191" y="47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225186" y="1610949"/>
              <a:ext cx="85345" cy="54380"/>
            </a:xfrm>
            <a:custGeom>
              <a:avLst/>
              <a:gdLst/>
              <a:ahLst/>
              <a:cxnLst/>
              <a:rect l="l" t="t" r="r" b="b"/>
              <a:pathLst>
                <a:path w="234" h="149">
                  <a:moveTo>
                    <a:pt x="191" y="47"/>
                  </a:moveTo>
                  <a:cubicBezTo>
                    <a:pt x="75" y="9"/>
                    <a:pt x="75" y="9"/>
                    <a:pt x="75" y="9"/>
                  </a:cubicBezTo>
                  <a:cubicBezTo>
                    <a:pt x="48" y="0"/>
                    <a:pt x="18" y="15"/>
                    <a:pt x="9" y="43"/>
                  </a:cubicBezTo>
                  <a:cubicBezTo>
                    <a:pt x="0" y="70"/>
                    <a:pt x="16" y="100"/>
                    <a:pt x="43" y="109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64" y="148"/>
                    <a:pt x="170" y="149"/>
                    <a:pt x="175" y="149"/>
                  </a:cubicBezTo>
                  <a:cubicBezTo>
                    <a:pt x="197" y="149"/>
                    <a:pt x="218" y="135"/>
                    <a:pt x="225" y="113"/>
                  </a:cubicBezTo>
                  <a:cubicBezTo>
                    <a:pt x="234" y="85"/>
                    <a:pt x="219" y="56"/>
                    <a:pt x="191" y="47"/>
                  </a:cubicBezTo>
                  <a:close/>
                  <a:moveTo>
                    <a:pt x="191" y="47"/>
                  </a:moveTo>
                  <a:cubicBezTo>
                    <a:pt x="191" y="47"/>
                    <a:pt x="191" y="47"/>
                    <a:pt x="191" y="47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827270" y="1610949"/>
              <a:ext cx="85037" cy="54380"/>
            </a:xfrm>
            <a:custGeom>
              <a:avLst/>
              <a:gdLst/>
              <a:ahLst/>
              <a:cxnLst/>
              <a:rect l="l" t="t" r="r" b="b"/>
              <a:pathLst>
                <a:path w="233" h="149">
                  <a:moveTo>
                    <a:pt x="158" y="9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15" y="56"/>
                    <a:pt x="0" y="85"/>
                    <a:pt x="9" y="113"/>
                  </a:cubicBezTo>
                  <a:cubicBezTo>
                    <a:pt x="16" y="135"/>
                    <a:pt x="36" y="149"/>
                    <a:pt x="58" y="149"/>
                  </a:cubicBezTo>
                  <a:cubicBezTo>
                    <a:pt x="64" y="149"/>
                    <a:pt x="69" y="148"/>
                    <a:pt x="75" y="146"/>
                  </a:cubicBezTo>
                  <a:cubicBezTo>
                    <a:pt x="191" y="109"/>
                    <a:pt x="191" y="109"/>
                    <a:pt x="191" y="109"/>
                  </a:cubicBezTo>
                  <a:cubicBezTo>
                    <a:pt x="218" y="100"/>
                    <a:pt x="233" y="70"/>
                    <a:pt x="224" y="43"/>
                  </a:cubicBezTo>
                  <a:cubicBezTo>
                    <a:pt x="215" y="15"/>
                    <a:pt x="186" y="0"/>
                    <a:pt x="158" y="9"/>
                  </a:cubicBezTo>
                  <a:close/>
                  <a:moveTo>
                    <a:pt x="158" y="9"/>
                  </a:moveTo>
                  <a:cubicBezTo>
                    <a:pt x="158" y="9"/>
                    <a:pt x="158" y="9"/>
                    <a:pt x="158" y="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25186" y="1481545"/>
              <a:ext cx="85345" cy="54380"/>
            </a:xfrm>
            <a:custGeom>
              <a:avLst/>
              <a:gdLst/>
              <a:ahLst/>
              <a:cxnLst/>
              <a:rect l="l" t="t" r="r" b="b"/>
              <a:pathLst>
                <a:path w="234" h="149">
                  <a:moveTo>
                    <a:pt x="59" y="149"/>
                  </a:moveTo>
                  <a:cubicBezTo>
                    <a:pt x="65" y="149"/>
                    <a:pt x="70" y="148"/>
                    <a:pt x="75" y="147"/>
                  </a:cubicBezTo>
                  <a:cubicBezTo>
                    <a:pt x="191" y="109"/>
                    <a:pt x="191" y="109"/>
                    <a:pt x="191" y="109"/>
                  </a:cubicBezTo>
                  <a:cubicBezTo>
                    <a:pt x="219" y="100"/>
                    <a:pt x="234" y="70"/>
                    <a:pt x="225" y="43"/>
                  </a:cubicBezTo>
                  <a:cubicBezTo>
                    <a:pt x="216" y="15"/>
                    <a:pt x="186" y="0"/>
                    <a:pt x="159" y="9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16" y="56"/>
                    <a:pt x="0" y="86"/>
                    <a:pt x="9" y="113"/>
                  </a:cubicBezTo>
                  <a:cubicBezTo>
                    <a:pt x="17" y="135"/>
                    <a:pt x="37" y="149"/>
                    <a:pt x="59" y="149"/>
                  </a:cubicBezTo>
                  <a:close/>
                  <a:moveTo>
                    <a:pt x="59" y="149"/>
                  </a:moveTo>
                  <a:cubicBezTo>
                    <a:pt x="59" y="149"/>
                    <a:pt x="59" y="149"/>
                    <a:pt x="59" y="14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911228" y="1704304"/>
              <a:ext cx="69323" cy="76564"/>
            </a:xfrm>
            <a:custGeom>
              <a:avLst/>
              <a:gdLst/>
              <a:ahLst/>
              <a:cxnLst/>
              <a:rect l="l" t="t" r="r" b="b"/>
              <a:pathLst>
                <a:path w="190" h="210">
                  <a:moveTo>
                    <a:pt x="88" y="29"/>
                  </a:moveTo>
                  <a:cubicBezTo>
                    <a:pt x="17" y="127"/>
                    <a:pt x="17" y="127"/>
                    <a:pt x="17" y="127"/>
                  </a:cubicBezTo>
                  <a:cubicBezTo>
                    <a:pt x="0" y="151"/>
                    <a:pt x="5" y="183"/>
                    <a:pt x="28" y="200"/>
                  </a:cubicBezTo>
                  <a:cubicBezTo>
                    <a:pt x="37" y="207"/>
                    <a:pt x="48" y="210"/>
                    <a:pt x="59" y="210"/>
                  </a:cubicBezTo>
                  <a:cubicBezTo>
                    <a:pt x="75" y="210"/>
                    <a:pt x="91" y="203"/>
                    <a:pt x="101" y="189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90" y="67"/>
                    <a:pt x="185" y="34"/>
                    <a:pt x="162" y="17"/>
                  </a:cubicBezTo>
                  <a:cubicBezTo>
                    <a:pt x="138" y="0"/>
                    <a:pt x="105" y="5"/>
                    <a:pt x="88" y="29"/>
                  </a:cubicBezTo>
                  <a:close/>
                  <a:moveTo>
                    <a:pt x="88" y="29"/>
                  </a:moveTo>
                  <a:cubicBezTo>
                    <a:pt x="88" y="29"/>
                    <a:pt x="88" y="29"/>
                    <a:pt x="88" y="2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156941" y="1365698"/>
              <a:ext cx="69786" cy="76872"/>
            </a:xfrm>
            <a:custGeom>
              <a:avLst/>
              <a:gdLst/>
              <a:ahLst/>
              <a:cxnLst/>
              <a:rect l="l" t="t" r="r" b="b"/>
              <a:pathLst>
                <a:path w="191" h="211">
                  <a:moveTo>
                    <a:pt x="89" y="29"/>
                  </a:moveTo>
                  <a:cubicBezTo>
                    <a:pt x="17" y="128"/>
                    <a:pt x="17" y="128"/>
                    <a:pt x="17" y="128"/>
                  </a:cubicBezTo>
                  <a:cubicBezTo>
                    <a:pt x="0" y="151"/>
                    <a:pt x="6" y="184"/>
                    <a:pt x="29" y="201"/>
                  </a:cubicBezTo>
                  <a:cubicBezTo>
                    <a:pt x="38" y="208"/>
                    <a:pt x="49" y="211"/>
                    <a:pt x="60" y="211"/>
                  </a:cubicBezTo>
                  <a:cubicBezTo>
                    <a:pt x="76" y="211"/>
                    <a:pt x="92" y="203"/>
                    <a:pt x="102" y="189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91" y="67"/>
                    <a:pt x="186" y="34"/>
                    <a:pt x="162" y="17"/>
                  </a:cubicBezTo>
                  <a:cubicBezTo>
                    <a:pt x="139" y="0"/>
                    <a:pt x="106" y="5"/>
                    <a:pt x="89" y="29"/>
                  </a:cubicBezTo>
                  <a:close/>
                  <a:moveTo>
                    <a:pt x="89" y="29"/>
                  </a:moveTo>
                  <a:cubicBezTo>
                    <a:pt x="89" y="29"/>
                    <a:pt x="89" y="29"/>
                    <a:pt x="89" y="2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930947" y="1437486"/>
              <a:ext cx="276061" cy="334293"/>
            </a:xfrm>
            <a:custGeom>
              <a:avLst/>
              <a:gdLst/>
              <a:ahLst/>
              <a:cxnLst/>
              <a:rect l="l" t="t" r="r" b="b"/>
              <a:pathLst>
                <a:path w="757" h="917">
                  <a:moveTo>
                    <a:pt x="757" y="378"/>
                  </a:moveTo>
                  <a:cubicBezTo>
                    <a:pt x="757" y="169"/>
                    <a:pt x="587" y="0"/>
                    <a:pt x="378" y="0"/>
                  </a:cubicBezTo>
                  <a:cubicBezTo>
                    <a:pt x="169" y="0"/>
                    <a:pt x="0" y="169"/>
                    <a:pt x="0" y="378"/>
                  </a:cubicBezTo>
                  <a:cubicBezTo>
                    <a:pt x="0" y="467"/>
                    <a:pt x="30" y="548"/>
                    <a:pt x="81" y="612"/>
                  </a:cubicBezTo>
                  <a:cubicBezTo>
                    <a:pt x="125" y="668"/>
                    <a:pt x="167" y="730"/>
                    <a:pt x="204" y="792"/>
                  </a:cubicBezTo>
                  <a:cubicBezTo>
                    <a:pt x="204" y="917"/>
                    <a:pt x="204" y="917"/>
                    <a:pt x="204" y="917"/>
                  </a:cubicBezTo>
                  <a:cubicBezTo>
                    <a:pt x="551" y="917"/>
                    <a:pt x="551" y="917"/>
                    <a:pt x="551" y="917"/>
                  </a:cubicBezTo>
                  <a:cubicBezTo>
                    <a:pt x="551" y="795"/>
                    <a:pt x="551" y="795"/>
                    <a:pt x="551" y="795"/>
                  </a:cubicBezTo>
                  <a:cubicBezTo>
                    <a:pt x="587" y="735"/>
                    <a:pt x="634" y="665"/>
                    <a:pt x="676" y="612"/>
                  </a:cubicBezTo>
                  <a:cubicBezTo>
                    <a:pt x="727" y="548"/>
                    <a:pt x="757" y="467"/>
                    <a:pt x="757" y="378"/>
                  </a:cubicBezTo>
                  <a:close/>
                  <a:moveTo>
                    <a:pt x="757" y="378"/>
                  </a:moveTo>
                  <a:cubicBezTo>
                    <a:pt x="757" y="378"/>
                    <a:pt x="757" y="378"/>
                    <a:pt x="757" y="378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92500" lnSpcReduction="10000"/>
            </a:bodyPr>
            <a:lstStyle/>
            <a:p>
              <a:pPr marL="0" algn="l"/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479943" y="2057400"/>
            <a:ext cx="540000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/>
                </a:solidFill>
                <a:latin typeface="微软雅黑"/>
                <a:ea typeface="微软雅黑"/>
              </a:rPr>
              <a:t>Objective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Revenue Intelligence</a:t>
            </a:r>
          </a:p>
        </p:txBody>
      </p:sp>
      <p:pic>
        <p:nvPicPr>
          <p:cNvPr id="3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879" y="1961751"/>
            <a:ext cx="3346994" cy="33408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4"/>
          <p:cNvSpPr txBox="1"/>
          <p:nvPr/>
        </p:nvSpPr>
        <p:spPr>
          <a:xfrm>
            <a:off x="1086427" y="2358751"/>
            <a:ext cx="7200000" cy="2697800"/>
          </a:xfrm>
          <a:prstGeom prst="roundRect">
            <a:avLst>
              <a:gd name="adj" fmla="val 5046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 lim="800000"/>
          </a:ln>
          <a:effectLst>
            <a:outerShdw blurRad="254000" dist="63500" dir="2700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446427" y="2851594"/>
            <a:ext cx="6480000" cy="24622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/>
                </a:solidFill>
                <a:latin typeface="+mn-ea"/>
                <a:ea typeface="+mn-ea"/>
              </a:rPr>
              <a:t>Objective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446427" y="3319181"/>
            <a:ext cx="6480000" cy="93140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/>
                </a:solidFill>
                <a:latin typeface="+mn-ea"/>
                <a:ea typeface="+mn-ea"/>
              </a:rPr>
              <a:t>Analyze revenue trends across time and media types for financial planning.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514781" y="2106249"/>
            <a:ext cx="494455" cy="428317"/>
          </a:xfrm>
          <a:custGeom>
            <a:avLst/>
            <a:gdLst/>
            <a:ahLst/>
            <a:cxnLst/>
            <a:rect l="l" t="t" r="r" b="b"/>
            <a:pathLst>
              <a:path w="315441" h="273249">
                <a:moveTo>
                  <a:pt x="283964" y="0"/>
                </a:moveTo>
                <a:lnTo>
                  <a:pt x="315441" y="59606"/>
                </a:lnTo>
                <a:cubicBezTo>
                  <a:pt x="289768" y="71661"/>
                  <a:pt x="272020" y="83660"/>
                  <a:pt x="262198" y="95604"/>
                </a:cubicBezTo>
                <a:cubicBezTo>
                  <a:pt x="252375" y="107547"/>
                  <a:pt x="246906" y="121667"/>
                  <a:pt x="245789" y="137964"/>
                </a:cubicBezTo>
                <a:lnTo>
                  <a:pt x="315441" y="137964"/>
                </a:lnTo>
                <a:lnTo>
                  <a:pt x="315441" y="273249"/>
                </a:lnTo>
                <a:lnTo>
                  <a:pt x="169775" y="273249"/>
                </a:lnTo>
                <a:lnTo>
                  <a:pt x="169775" y="161070"/>
                </a:lnTo>
                <a:cubicBezTo>
                  <a:pt x="169775" y="119770"/>
                  <a:pt x="178370" y="87177"/>
                  <a:pt x="195560" y="63290"/>
                </a:cubicBezTo>
                <a:cubicBezTo>
                  <a:pt x="212750" y="39403"/>
                  <a:pt x="242217" y="18306"/>
                  <a:pt x="283964" y="0"/>
                </a:cubicBezTo>
                <a:close/>
                <a:moveTo>
                  <a:pt x="114188" y="0"/>
                </a:moveTo>
                <a:lnTo>
                  <a:pt x="145665" y="59606"/>
                </a:lnTo>
                <a:cubicBezTo>
                  <a:pt x="119992" y="71661"/>
                  <a:pt x="102245" y="83660"/>
                  <a:pt x="92422" y="95604"/>
                </a:cubicBezTo>
                <a:cubicBezTo>
                  <a:pt x="82599" y="107547"/>
                  <a:pt x="77130" y="121667"/>
                  <a:pt x="76014" y="137964"/>
                </a:cubicBezTo>
                <a:lnTo>
                  <a:pt x="145665" y="137964"/>
                </a:lnTo>
                <a:lnTo>
                  <a:pt x="145665" y="273249"/>
                </a:lnTo>
                <a:lnTo>
                  <a:pt x="0" y="273249"/>
                </a:lnTo>
                <a:lnTo>
                  <a:pt x="0" y="161070"/>
                </a:lnTo>
                <a:cubicBezTo>
                  <a:pt x="0" y="119770"/>
                  <a:pt x="8595" y="87177"/>
                  <a:pt x="25784" y="63290"/>
                </a:cubicBezTo>
                <a:cubicBezTo>
                  <a:pt x="42974" y="39403"/>
                  <a:pt x="72442" y="18306"/>
                  <a:pt x="114188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Growth Opportunities</a:t>
            </a:r>
          </a:p>
        </p:txBody>
      </p:sp>
      <p:sp>
        <p:nvSpPr>
          <p:cNvPr id="3" name="AutoShape 3"/>
          <p:cNvSpPr/>
          <p:nvPr/>
        </p:nvSpPr>
        <p:spPr>
          <a:xfrm>
            <a:off x="710534" y="2736850"/>
            <a:ext cx="4456597" cy="626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10533" y="2952732"/>
            <a:ext cx="4456598" cy="13483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Identify underutilized content and inactive customers to unlock new revenue streams.</a:t>
            </a:r>
            <a:endParaRPr lang="en-US" sz="1100"/>
          </a:p>
        </p:txBody>
      </p:sp>
      <p:pic>
        <p:nvPicPr>
          <p:cNvPr id="5" name="image1.png"/>
          <p:cNvPicPr>
            <a:picLocks noChangeAspect="1"/>
          </p:cNvPicPr>
          <p:nvPr/>
        </p:nvPicPr>
        <p:blipFill>
          <a:blip r:embed="rId2"/>
          <a:srcRect l="9597" r="9597"/>
          <a:stretch>
            <a:fillRect/>
          </a:stretch>
        </p:blipFill>
        <p:spPr>
          <a:xfrm>
            <a:off x="5730792" y="1359408"/>
            <a:ext cx="5788108" cy="4774692"/>
          </a:xfrm>
          <a:custGeom>
            <a:avLst/>
            <a:gdLst/>
            <a:ahLst/>
            <a:cxnLst/>
            <a:rect l="0" t="0" r="0" b="0"/>
            <a:pathLst>
              <a:path w="5788108" h="4774692">
                <a:moveTo>
                  <a:pt x="3743180" y="665062"/>
                </a:moveTo>
                <a:lnTo>
                  <a:pt x="4655748" y="665062"/>
                </a:lnTo>
                <a:lnTo>
                  <a:pt x="3887742" y="4774692"/>
                </a:lnTo>
                <a:lnTo>
                  <a:pt x="2975175" y="4774692"/>
                </a:lnTo>
                <a:close/>
                <a:moveTo>
                  <a:pt x="1712999" y="665062"/>
                </a:moveTo>
                <a:lnTo>
                  <a:pt x="2625566" y="665062"/>
                </a:lnTo>
                <a:lnTo>
                  <a:pt x="1857561" y="4774692"/>
                </a:lnTo>
                <a:lnTo>
                  <a:pt x="944994" y="4774692"/>
                </a:lnTo>
                <a:close/>
                <a:moveTo>
                  <a:pt x="768005" y="264001"/>
                </a:moveTo>
                <a:lnTo>
                  <a:pt x="1680573" y="264001"/>
                </a:lnTo>
                <a:lnTo>
                  <a:pt x="912567" y="4373631"/>
                </a:lnTo>
                <a:lnTo>
                  <a:pt x="0" y="4373631"/>
                </a:lnTo>
                <a:close/>
                <a:moveTo>
                  <a:pt x="4875541" y="22145"/>
                </a:moveTo>
                <a:lnTo>
                  <a:pt x="5788108" y="22145"/>
                </a:lnTo>
                <a:lnTo>
                  <a:pt x="5020103" y="4131775"/>
                </a:lnTo>
                <a:lnTo>
                  <a:pt x="4107536" y="4131775"/>
                </a:lnTo>
                <a:close/>
                <a:moveTo>
                  <a:pt x="2850541" y="0"/>
                </a:moveTo>
                <a:lnTo>
                  <a:pt x="3763108" y="0"/>
                </a:lnTo>
                <a:lnTo>
                  <a:pt x="2995103" y="4109630"/>
                </a:lnTo>
                <a:lnTo>
                  <a:pt x="2082535" y="4109630"/>
                </a:lnTo>
                <a:close/>
              </a:path>
            </a:pathLst>
          </a:custGeom>
          <a:solidFill>
            <a:srgbClr val="2196F3">
              <a:lumMod val="40000"/>
              <a:lumOff val="60000"/>
            </a:srgbClr>
          </a:solidFill>
        </p:spPr>
      </p:pic>
      <p:sp>
        <p:nvSpPr>
          <p:cNvPr id="6" name="TextBox 6"/>
          <p:cNvSpPr txBox="1"/>
          <p:nvPr/>
        </p:nvSpPr>
        <p:spPr>
          <a:xfrm>
            <a:off x="710533" y="2214257"/>
            <a:ext cx="4326609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Objective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Dataset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000000"/>
                </a:solidFill>
                <a:latin typeface="Arial"/>
                <a:ea typeface="Arial"/>
              </a:rPr>
              <a:t>Relational Database Overview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000000"/>
                </a:solidFill>
                <a:latin typeface="Arial"/>
                <a:ea typeface="Arial"/>
              </a:rPr>
              <a:t>Table Structure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808480"/>
          <a:ext cx="10363200" cy="5181600"/>
        </p:xfrm>
        <a:graphic>
          <a:graphicData uri="http://schemas.openxmlformats.org/drawingml/2006/table">
            <a:tbl>
              <a:tblPr/>
              <a:tblGrid>
                <a:gridCol w="310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0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album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Album 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artist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Artist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 profiles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Employee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genre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Music genre 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invoice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Sales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invoice_line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Line items per invoice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media_type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Format of media (e.g., MP3, AAC)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playlist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Curated playlists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playlist_track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Tracks within playlists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Individual song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6182" y="1933389"/>
            <a:ext cx="8933682" cy="4111811"/>
            <a:chOff x="1710348" y="1055077"/>
            <a:chExt cx="9448800" cy="4853354"/>
          </a:xfrm>
          <a:solidFill>
            <a:schemeClr val="accent1"/>
          </a:solidFill>
        </p:grpSpPr>
        <p:sp>
          <p:nvSpPr>
            <p:cNvPr id="3" name="AutoShape 3"/>
            <p:cNvSpPr/>
            <p:nvPr/>
          </p:nvSpPr>
          <p:spPr>
            <a:xfrm>
              <a:off x="1710348" y="1055077"/>
              <a:ext cx="9448800" cy="4853354"/>
            </a:xfrm>
            <a:prstGeom prst="rect">
              <a:avLst/>
            </a:prstGeom>
            <a:grpFill/>
            <a:ln>
              <a:noFill/>
            </a:ln>
            <a:effectLst>
              <a:outerShdw blurRad="190500" dist="50800" dir="5400000" sx="101000" sy="101000" algn="ctr" rotWithShape="0">
                <a:schemeClr val="accent1">
                  <a:alpha val="32000"/>
                </a:schemeClr>
              </a:outerShdw>
            </a:effectLst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2732295" y="1478279"/>
              <a:ext cx="8037952" cy="40233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190500" dist="50800" dir="5400000" sx="101000" sy="101000" algn="ctr" rotWithShape="0">
                <a:schemeClr val="accent1">
                  <a:alpha val="32000"/>
                </a:schemeClr>
              </a:outerShdw>
            </a:effectLst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rot="5400000">
            <a:off x="1211629" y="1588283"/>
            <a:ext cx="4713688" cy="4732210"/>
          </a:xfrm>
          <a:prstGeom prst="flowChartManualInput">
            <a:avLst/>
          </a:prstGeom>
          <a:blipFill>
            <a:blip r:embed="rId2"/>
            <a:srcRect/>
            <a:tile tx="0" ty="0" sx="100000" sy="100000" algn="b"/>
          </a:blipFill>
          <a:ln>
            <a:noFill/>
          </a:ln>
          <a:effectLst>
            <a:outerShdw blurRad="190500" dist="50800" dir="5400000" sx="101000" sy="101000" algn="ctr" rotWithShape="0">
              <a:srgbClr val="2056FF">
                <a:alpha val="32000"/>
              </a:srgbClr>
            </a:outerShdw>
          </a:effectLst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890553" y="3706844"/>
            <a:ext cx="4277376" cy="102374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F0F0F0">
                    <a:lumMod val="25000"/>
                  </a:srgbClr>
                </a:solidFill>
                <a:effectLst/>
                <a:latin typeface="思源黑体 CN Regular"/>
                <a:ea typeface="思源黑体 CN Regular"/>
              </a:rPr>
              <a:t>Relational schema links customers, transactions, and music content.
Enables customer intelligence, revenue tracking, and content analytics.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1467995" y="1981776"/>
            <a:ext cx="4145579" cy="4161868"/>
          </a:xfrm>
          <a:prstGeom prst="flowChartManualInput">
            <a:avLst/>
          </a:prstGeom>
          <a:noFill/>
          <a:ln>
            <a:solidFill>
              <a:schemeClr val="accent1"/>
            </a:solidFill>
          </a:ln>
          <a:effectLst>
            <a:outerShdw blurRad="190500" dist="50800" dir="5400000" sx="101000" sy="101000" algn="ctr" rotWithShape="0">
              <a:srgbClr val="2056FF">
                <a:alpha val="32000"/>
              </a:srgbClr>
            </a:outerShdw>
          </a:effectLst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892800" y="3087512"/>
            <a:ext cx="426301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Key Highlights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>
            <a:off x="5986318" y="3594501"/>
            <a:ext cx="39497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10" name="AutoShape 10"/>
          <p:cNvSpPr/>
          <p:nvPr/>
        </p:nvSpPr>
        <p:spPr>
          <a:xfrm>
            <a:off x="9811794" y="603177"/>
            <a:ext cx="537138" cy="5371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0216640" y="201"/>
            <a:ext cx="1975360" cy="850364"/>
          </a:xfrm>
          <a:custGeom>
            <a:avLst/>
            <a:gdLst/>
            <a:ahLst/>
            <a:cxnLst/>
            <a:rect l="l" t="t" r="r" b="b"/>
            <a:pathLst>
              <a:path w="1975360" h="850364">
                <a:moveTo>
                  <a:pt x="0" y="0"/>
                </a:moveTo>
                <a:lnTo>
                  <a:pt x="1975360" y="0"/>
                </a:lnTo>
                <a:lnTo>
                  <a:pt x="1970376" y="49444"/>
                </a:lnTo>
                <a:cubicBezTo>
                  <a:pt x="1876843" y="506528"/>
                  <a:pt x="1472415" y="850364"/>
                  <a:pt x="987680" y="850364"/>
                </a:cubicBezTo>
                <a:cubicBezTo>
                  <a:pt x="502945" y="850364"/>
                  <a:pt x="98517" y="506528"/>
                  <a:pt x="4984" y="494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Relational Database Overview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Technology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02" y="3157299"/>
            <a:ext cx="12192000" cy="3700701"/>
          </a:xfrm>
          <a:custGeom>
            <a:avLst/>
            <a:gdLst/>
            <a:ahLst/>
            <a:cxnLst/>
            <a:rect l="0" t="0" r="0" b="0"/>
            <a:pathLst>
              <a:path w="19200" h="7265">
                <a:moveTo>
                  <a:pt x="19200" y="0"/>
                </a:moveTo>
                <a:lnTo>
                  <a:pt x="19200" y="7265"/>
                </a:lnTo>
                <a:lnTo>
                  <a:pt x="0" y="7265"/>
                </a:lnTo>
                <a:lnTo>
                  <a:pt x="0" y="2495"/>
                </a:lnTo>
                <a:lnTo>
                  <a:pt x="61" y="2513"/>
                </a:lnTo>
                <a:cubicBezTo>
                  <a:pt x="6439" y="4410"/>
                  <a:pt x="12818" y="109"/>
                  <a:pt x="19196" y="0"/>
                </a:cubicBezTo>
                <a:lnTo>
                  <a:pt x="19200" y="0"/>
                </a:lnTo>
                <a:close/>
              </a:path>
            </a:pathLst>
          </a:custGeom>
        </p:spPr>
      </p:pic>
      <p:sp>
        <p:nvSpPr>
          <p:cNvPr id="3" name="AutoShape 3"/>
          <p:cNvSpPr/>
          <p:nvPr/>
        </p:nvSpPr>
        <p:spPr>
          <a:xfrm>
            <a:off x="1407608" y="4638082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680893" y="4504131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943998" y="4030319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84315" y="3067946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53833" y="2551167"/>
            <a:ext cx="2202873" cy="64633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Power Query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53833" y="3235947"/>
            <a:ext cx="2202873" cy="4056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Data cleaning and preparation for analysis.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654772" y="2390512"/>
            <a:ext cx="2202873" cy="64633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CSV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654772" y="3053203"/>
            <a:ext cx="2202873" cy="4056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Initial data source format for ingestion.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036157" y="1921247"/>
            <a:ext cx="2202873" cy="64633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DAX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036157" y="2594345"/>
            <a:ext cx="2202873" cy="4056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Creation of advanced KPIs and measures.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392795" y="1371972"/>
            <a:ext cx="2202873" cy="64633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SQL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392795" y="2041471"/>
            <a:ext cx="2202873" cy="5181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Data extraction and transformation from relational database.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772603" y="870322"/>
            <a:ext cx="2202873" cy="64633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Power BI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772603" y="1543420"/>
            <a:ext cx="2202873" cy="4056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Dashboard development for interactive visualization.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71964" y="3503402"/>
            <a:ext cx="304165" cy="30416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" name="ima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3981345" y="3016448"/>
            <a:ext cx="8211185" cy="3851275"/>
          </a:xfrm>
          <a:custGeom>
            <a:avLst/>
            <a:gdLst/>
            <a:ahLst/>
            <a:cxnLst/>
            <a:rect l="0" t="0" r="0" b="0"/>
            <a:pathLst>
              <a:path w="16204" h="6065">
                <a:moveTo>
                  <a:pt x="0" y="0"/>
                </a:moveTo>
                <a:lnTo>
                  <a:pt x="16204" y="0"/>
                </a:lnTo>
                <a:lnTo>
                  <a:pt x="16204" y="6065"/>
                </a:lnTo>
                <a:lnTo>
                  <a:pt x="0" y="606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9" name="AutoShape 19"/>
          <p:cNvSpPr/>
          <p:nvPr/>
        </p:nvSpPr>
        <p:spPr>
          <a:xfrm>
            <a:off x="1487610" y="4718084"/>
            <a:ext cx="144000" cy="144000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760895" y="4584133"/>
            <a:ext cx="144000" cy="144000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024000" y="4110321"/>
            <a:ext cx="144000" cy="144000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864245" y="3147876"/>
            <a:ext cx="144145" cy="144145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451974" y="3583412"/>
            <a:ext cx="144145" cy="144145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Tools &amp; Purposes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Dashboard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9922"/>
            <a:ext cx="12192000" cy="3138078"/>
          </a:xfrm>
          <a:custGeom>
            <a:avLst/>
            <a:gdLst/>
            <a:ahLst/>
            <a:cxnLst/>
            <a:rect l="0" t="0" r="0" b="0"/>
            <a:pathLst>
              <a:path w="19200" h="7264">
                <a:moveTo>
                  <a:pt x="19200" y="0"/>
                </a:moveTo>
                <a:lnTo>
                  <a:pt x="19200" y="7265"/>
                </a:lnTo>
                <a:lnTo>
                  <a:pt x="0" y="7265"/>
                </a:lnTo>
                <a:lnTo>
                  <a:pt x="0" y="2495"/>
                </a:lnTo>
                <a:lnTo>
                  <a:pt x="61" y="2513"/>
                </a:lnTo>
                <a:cubicBezTo>
                  <a:pt x="6439" y="4410"/>
                  <a:pt x="12818" y="109"/>
                  <a:pt x="19196" y="0"/>
                </a:cubicBezTo>
                <a:lnTo>
                  <a:pt x="19200" y="0"/>
                </a:lnTo>
                <a:close/>
              </a:path>
            </a:pathLst>
          </a:custGeom>
        </p:spPr>
      </p:pic>
      <p:sp>
        <p:nvSpPr>
          <p:cNvPr id="3" name="AutoShape 3"/>
          <p:cNvSpPr/>
          <p:nvPr/>
        </p:nvSpPr>
        <p:spPr>
          <a:xfrm>
            <a:off x="1407608" y="4862374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680893" y="4766523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943998" y="4426061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459849" y="3656237"/>
            <a:ext cx="304004" cy="304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22044" y="2245996"/>
            <a:ext cx="2477011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i="0" u="none" baseline="0">
                <a:ln/>
                <a:solidFill>
                  <a:schemeClr val="accent1"/>
                </a:solidFill>
                <a:effectLst/>
                <a:latin typeface="思源黑体 CN Bold"/>
                <a:ea typeface="思源黑体 CN Bold"/>
              </a:rPr>
              <a:t>Music Intelligence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70576" y="2909927"/>
            <a:ext cx="2202873" cy="24634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Advanced analytics with decomposition and heatmaps.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441064" y="2085340"/>
            <a:ext cx="2477011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i="0" u="none" baseline="0">
                <a:ln/>
                <a:solidFill>
                  <a:schemeClr val="accent1"/>
                </a:solidFill>
                <a:effectLst/>
                <a:latin typeface="思源黑体 CN Bold"/>
                <a:ea typeface="思源黑体 CN Bold"/>
              </a:rPr>
              <a:t>Insights Hub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589596" y="2749273"/>
            <a:ext cx="2202873" cy="24634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Content performance and genre trends.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772784" y="1616076"/>
            <a:ext cx="2477011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i="0" u="none" baseline="0">
                <a:ln/>
                <a:solidFill>
                  <a:schemeClr val="accent1"/>
                </a:solidFill>
                <a:effectLst/>
                <a:latin typeface="思源黑体 CN Bold"/>
                <a:ea typeface="思源黑体 CN Bold"/>
              </a:rPr>
              <a:t>Customer Intelligence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921316" y="2280007"/>
            <a:ext cx="2202873" cy="24634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Deep dive into consumer behavior and segmentation.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124189" y="1066800"/>
            <a:ext cx="2477011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i="0" u="none" baseline="0">
                <a:ln/>
                <a:solidFill>
                  <a:schemeClr val="accent1"/>
                </a:solidFill>
                <a:effectLst/>
                <a:latin typeface="思源黑体 CN Bold"/>
                <a:ea typeface="思源黑体 CN Bold"/>
              </a:rPr>
              <a:t>Executive Overview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272721" y="1730733"/>
            <a:ext cx="2202873" cy="24634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Top-level business performance metrics.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476864" y="609600"/>
            <a:ext cx="2477011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i="0" u="none" baseline="0">
                <a:ln/>
                <a:solidFill>
                  <a:schemeClr val="accent1"/>
                </a:solidFill>
                <a:effectLst/>
                <a:latin typeface="思源黑体 CN Bold"/>
                <a:ea typeface="思源黑体 CN Bold"/>
              </a:rPr>
              <a:t>Home Page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625396" y="1229083"/>
            <a:ext cx="2202873" cy="24634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Central gateway to all dashboard sections.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85150" y="3995420"/>
            <a:ext cx="304165" cy="30416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pic>
        <p:nvPicPr>
          <p:cNvPr id="18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71491" y="3986074"/>
            <a:ext cx="5520786" cy="2871925"/>
          </a:xfrm>
          <a:custGeom>
            <a:avLst/>
            <a:gdLst/>
            <a:ahLst/>
            <a:cxnLst/>
            <a:rect l="0" t="0" r="0" b="0"/>
            <a:pathLst>
              <a:path w="16204" h="6065">
                <a:moveTo>
                  <a:pt x="0" y="0"/>
                </a:moveTo>
                <a:lnTo>
                  <a:pt x="16204" y="0"/>
                </a:lnTo>
                <a:lnTo>
                  <a:pt x="16204" y="6065"/>
                </a:lnTo>
                <a:lnTo>
                  <a:pt x="0" y="606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9" name="AutoShape 19"/>
          <p:cNvSpPr/>
          <p:nvPr/>
        </p:nvSpPr>
        <p:spPr>
          <a:xfrm>
            <a:off x="1487610" y="4942376"/>
            <a:ext cx="144000" cy="144000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760895" y="4846525"/>
            <a:ext cx="144000" cy="144000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024000" y="4506063"/>
            <a:ext cx="144000" cy="144000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539779" y="3736167"/>
            <a:ext cx="144145" cy="144145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265160" y="4075430"/>
            <a:ext cx="144145" cy="144145"/>
          </a:xfrm>
          <a:prstGeom prst="chevron">
            <a:avLst>
              <a:gd name="adj" fmla="val 63916"/>
            </a:avLst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Navigation Flow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7518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000000"/>
                </a:solidFill>
                <a:latin typeface="Arial"/>
                <a:ea typeface="Arial"/>
              </a:rPr>
              <a:t>Page Functions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14400" y="1259840"/>
          <a:ext cx="10363200" cy="2590800"/>
        </p:xfrm>
        <a:graphic>
          <a:graphicData uri="http://schemas.openxmlformats.org/drawingml/2006/table">
            <a:tbl>
              <a:tblPr/>
              <a:tblGrid>
                <a:gridCol w="231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Navigation and orientation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Executive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Revenue KPIs and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Consumer segmentation and 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Music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Genre and playlist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Complex data exploration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ECF099-0329-2687-F71A-50B3CDE10AB3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381000" y="228600"/>
            <a:ext cx="4654552" cy="6281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Eras Bold ITC" panose="020B0907030504020204" pitchFamily="34" charset="0"/>
              </a:rPr>
              <a:t>Home Page</a:t>
            </a:r>
          </a:p>
        </p:txBody>
      </p:sp>
      <p:pic>
        <p:nvPicPr>
          <p:cNvPr id="5" name="Picture 4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C574EFAC-1E19-67EC-7D56-F1AACB9B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143000"/>
            <a:ext cx="9144000" cy="52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00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Executive Overview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05577"/>
            <a:ext cx="12192000" cy="5352423"/>
          </a:xfrm>
          <a:custGeom>
            <a:avLst/>
            <a:gdLst/>
            <a:ahLst/>
            <a:cxnLst/>
            <a:rect l="l" t="t" r="r" b="b"/>
            <a:pathLst>
              <a:path w="12192000" h="5352423">
                <a:moveTo>
                  <a:pt x="11760548" y="253"/>
                </a:moveTo>
                <a:cubicBezTo>
                  <a:pt x="11770791" y="1347"/>
                  <a:pt x="11780879" y="5921"/>
                  <a:pt x="11790483" y="12513"/>
                </a:cubicBezTo>
                <a:cubicBezTo>
                  <a:pt x="11827878" y="38145"/>
                  <a:pt x="11864761" y="64513"/>
                  <a:pt x="11902100" y="90315"/>
                </a:cubicBezTo>
                <a:cubicBezTo>
                  <a:pt x="11907384" y="93952"/>
                  <a:pt x="11913521" y="98385"/>
                  <a:pt x="11919488" y="98726"/>
                </a:cubicBezTo>
                <a:cubicBezTo>
                  <a:pt x="11988652" y="102703"/>
                  <a:pt x="12049233" y="128562"/>
                  <a:pt x="12104586" y="168969"/>
                </a:cubicBezTo>
                <a:cubicBezTo>
                  <a:pt x="12110837" y="173572"/>
                  <a:pt x="12120157" y="177493"/>
                  <a:pt x="12127432" y="176583"/>
                </a:cubicBezTo>
                <a:lnTo>
                  <a:pt x="12192000" y="165414"/>
                </a:lnTo>
                <a:lnTo>
                  <a:pt x="12192000" y="5352423"/>
                </a:lnTo>
                <a:lnTo>
                  <a:pt x="0" y="5352423"/>
                </a:lnTo>
                <a:lnTo>
                  <a:pt x="0" y="2876794"/>
                </a:lnTo>
                <a:lnTo>
                  <a:pt x="21189" y="2884893"/>
                </a:lnTo>
                <a:cubicBezTo>
                  <a:pt x="35574" y="2890029"/>
                  <a:pt x="49696" y="2893453"/>
                  <a:pt x="62710" y="2891095"/>
                </a:cubicBezTo>
                <a:cubicBezTo>
                  <a:pt x="116984" y="2881263"/>
                  <a:pt x="170405" y="2878194"/>
                  <a:pt x="224792" y="2882399"/>
                </a:cubicBezTo>
                <a:cubicBezTo>
                  <a:pt x="307991" y="2888821"/>
                  <a:pt x="386871" y="2907632"/>
                  <a:pt x="454728" y="2960370"/>
                </a:cubicBezTo>
                <a:cubicBezTo>
                  <a:pt x="464957" y="2968327"/>
                  <a:pt x="481722" y="2976114"/>
                  <a:pt x="492803" y="2973385"/>
                </a:cubicBezTo>
                <a:cubicBezTo>
                  <a:pt x="521844" y="2966168"/>
                  <a:pt x="550828" y="2955825"/>
                  <a:pt x="577140" y="2941731"/>
                </a:cubicBezTo>
                <a:cubicBezTo>
                  <a:pt x="617660" y="2920021"/>
                  <a:pt x="655965" y="2894164"/>
                  <a:pt x="687448" y="2874785"/>
                </a:cubicBezTo>
                <a:cubicBezTo>
                  <a:pt x="736777" y="2892231"/>
                  <a:pt x="784685" y="2906836"/>
                  <a:pt x="822705" y="2891037"/>
                </a:cubicBezTo>
                <a:cubicBezTo>
                  <a:pt x="861009" y="2875125"/>
                  <a:pt x="888685" y="2833639"/>
                  <a:pt x="921988" y="2802438"/>
                </a:cubicBezTo>
                <a:cubicBezTo>
                  <a:pt x="925455" y="2805678"/>
                  <a:pt x="931933" y="2811078"/>
                  <a:pt x="937559" y="2817272"/>
                </a:cubicBezTo>
                <a:cubicBezTo>
                  <a:pt x="978478" y="2862225"/>
                  <a:pt x="1031046" y="2885866"/>
                  <a:pt x="1089638" y="2894164"/>
                </a:cubicBezTo>
                <a:cubicBezTo>
                  <a:pt x="1123054" y="2898880"/>
                  <a:pt x="1150560" y="2910758"/>
                  <a:pt x="1175793" y="2932296"/>
                </a:cubicBezTo>
                <a:cubicBezTo>
                  <a:pt x="1195229" y="2948834"/>
                  <a:pt x="1218928" y="2953893"/>
                  <a:pt x="1240865" y="2938094"/>
                </a:cubicBezTo>
                <a:cubicBezTo>
                  <a:pt x="1275815" y="2912917"/>
                  <a:pt x="1314688" y="2908087"/>
                  <a:pt x="1356173" y="2907234"/>
                </a:cubicBezTo>
                <a:cubicBezTo>
                  <a:pt x="1427439" y="2905813"/>
                  <a:pt x="1488987" y="2924169"/>
                  <a:pt x="1536780" y="2980659"/>
                </a:cubicBezTo>
                <a:cubicBezTo>
                  <a:pt x="1563605" y="3012370"/>
                  <a:pt x="1580028" y="3013906"/>
                  <a:pt x="1618900" y="2997084"/>
                </a:cubicBezTo>
                <a:cubicBezTo>
                  <a:pt x="1626232" y="2993901"/>
                  <a:pt x="1637939" y="2988559"/>
                  <a:pt x="1641918" y="2991628"/>
                </a:cubicBezTo>
                <a:cubicBezTo>
                  <a:pt x="1669935" y="3013280"/>
                  <a:pt x="1699600" y="3010950"/>
                  <a:pt x="1731141" y="3003392"/>
                </a:cubicBezTo>
                <a:cubicBezTo>
                  <a:pt x="1736426" y="3002142"/>
                  <a:pt x="1745463" y="3009131"/>
                  <a:pt x="1750236" y="3014531"/>
                </a:cubicBezTo>
                <a:cubicBezTo>
                  <a:pt x="1762056" y="3027942"/>
                  <a:pt x="1769843" y="3046242"/>
                  <a:pt x="1783823" y="3055960"/>
                </a:cubicBezTo>
                <a:cubicBezTo>
                  <a:pt x="1805361" y="3070906"/>
                  <a:pt x="1832299" y="3077953"/>
                  <a:pt x="1854122" y="3092616"/>
                </a:cubicBezTo>
                <a:cubicBezTo>
                  <a:pt x="1882993" y="3112051"/>
                  <a:pt x="1908566" y="3136432"/>
                  <a:pt x="1936810" y="3156947"/>
                </a:cubicBezTo>
                <a:cubicBezTo>
                  <a:pt x="1945507" y="3163256"/>
                  <a:pt x="1959145" y="3168371"/>
                  <a:pt x="1968976" y="3166438"/>
                </a:cubicBezTo>
                <a:cubicBezTo>
                  <a:pt x="1995801" y="3161210"/>
                  <a:pt x="2024216" y="3156209"/>
                  <a:pt x="2047574" y="3143138"/>
                </a:cubicBezTo>
                <a:cubicBezTo>
                  <a:pt x="2076614" y="3126827"/>
                  <a:pt x="2100085" y="3121429"/>
                  <a:pt x="2125943" y="3146206"/>
                </a:cubicBezTo>
                <a:cubicBezTo>
                  <a:pt x="2130205" y="3150298"/>
                  <a:pt x="2140605" y="3149219"/>
                  <a:pt x="2147993" y="3148537"/>
                </a:cubicBezTo>
                <a:cubicBezTo>
                  <a:pt x="2194480" y="3144615"/>
                  <a:pt x="2239831" y="3137796"/>
                  <a:pt x="2277908" y="3106539"/>
                </a:cubicBezTo>
                <a:cubicBezTo>
                  <a:pt x="2286205" y="3099719"/>
                  <a:pt x="2299673" y="3098072"/>
                  <a:pt x="2311040" y="3096424"/>
                </a:cubicBezTo>
                <a:cubicBezTo>
                  <a:pt x="2345025" y="3091593"/>
                  <a:pt x="2379237" y="3088069"/>
                  <a:pt x="2413335" y="3083694"/>
                </a:cubicBezTo>
                <a:cubicBezTo>
                  <a:pt x="2415778" y="3083409"/>
                  <a:pt x="2417939" y="3080682"/>
                  <a:pt x="2420098" y="3078976"/>
                </a:cubicBezTo>
                <a:cubicBezTo>
                  <a:pt x="2444307" y="3059427"/>
                  <a:pt x="2468801" y="3040161"/>
                  <a:pt x="2492613" y="3020157"/>
                </a:cubicBezTo>
                <a:cubicBezTo>
                  <a:pt x="2549558" y="2972192"/>
                  <a:pt x="2550922" y="2972134"/>
                  <a:pt x="2599285" y="3028965"/>
                </a:cubicBezTo>
                <a:cubicBezTo>
                  <a:pt x="2608320" y="3039593"/>
                  <a:pt x="2615197" y="3044139"/>
                  <a:pt x="2632927" y="3043286"/>
                </a:cubicBezTo>
                <a:cubicBezTo>
                  <a:pt x="2653784" y="3042264"/>
                  <a:pt x="2667480" y="3027431"/>
                  <a:pt x="2683507" y="3026806"/>
                </a:cubicBezTo>
                <a:cubicBezTo>
                  <a:pt x="2720220" y="3025385"/>
                  <a:pt x="2745907" y="3006859"/>
                  <a:pt x="2770457" y="2984354"/>
                </a:cubicBezTo>
                <a:cubicBezTo>
                  <a:pt x="2787792" y="2968497"/>
                  <a:pt x="2801885" y="2969465"/>
                  <a:pt x="2814275" y="2988957"/>
                </a:cubicBezTo>
                <a:cubicBezTo>
                  <a:pt x="2825186" y="3006176"/>
                  <a:pt x="2838256" y="3009643"/>
                  <a:pt x="2857522" y="3001744"/>
                </a:cubicBezTo>
                <a:cubicBezTo>
                  <a:pt x="2868149" y="2997367"/>
                  <a:pt x="2881732" y="2997424"/>
                  <a:pt x="2893496" y="2999015"/>
                </a:cubicBezTo>
                <a:cubicBezTo>
                  <a:pt x="2949303" y="3006631"/>
                  <a:pt x="3004713" y="3017031"/>
                  <a:pt x="3060691" y="3022828"/>
                </a:cubicBezTo>
                <a:cubicBezTo>
                  <a:pt x="3075809" y="3024362"/>
                  <a:pt x="3093993" y="3016065"/>
                  <a:pt x="3107633" y="3007370"/>
                </a:cubicBezTo>
                <a:cubicBezTo>
                  <a:pt x="3138663" y="2987593"/>
                  <a:pt x="3167192" y="2963781"/>
                  <a:pt x="3197993" y="2943605"/>
                </a:cubicBezTo>
                <a:cubicBezTo>
                  <a:pt x="3210838" y="2935195"/>
                  <a:pt x="3226579" y="2930648"/>
                  <a:pt x="3241583" y="2926386"/>
                </a:cubicBezTo>
                <a:cubicBezTo>
                  <a:pt x="3273749" y="2917237"/>
                  <a:pt x="3310120" y="2915929"/>
                  <a:pt x="3337967" y="2899732"/>
                </a:cubicBezTo>
                <a:cubicBezTo>
                  <a:pt x="3392979" y="2867794"/>
                  <a:pt x="3444013" y="2868874"/>
                  <a:pt x="3488682" y="2914338"/>
                </a:cubicBezTo>
                <a:cubicBezTo>
                  <a:pt x="3502378" y="2928261"/>
                  <a:pt x="3514369" y="2943947"/>
                  <a:pt x="3530168" y="2962361"/>
                </a:cubicBezTo>
                <a:cubicBezTo>
                  <a:pt x="3538238" y="2953779"/>
                  <a:pt x="3548809" y="2946732"/>
                  <a:pt x="3553297" y="2936901"/>
                </a:cubicBezTo>
                <a:cubicBezTo>
                  <a:pt x="3565857" y="2909621"/>
                  <a:pt x="3596319" y="2900130"/>
                  <a:pt x="3621211" y="2918658"/>
                </a:cubicBezTo>
                <a:cubicBezTo>
                  <a:pt x="3636213" y="2929797"/>
                  <a:pt x="3643715" y="2929739"/>
                  <a:pt x="3652354" y="2910246"/>
                </a:cubicBezTo>
                <a:cubicBezTo>
                  <a:pt x="3662811" y="2886719"/>
                  <a:pt x="3674517" y="2860064"/>
                  <a:pt x="3693669" y="2844948"/>
                </a:cubicBezTo>
                <a:cubicBezTo>
                  <a:pt x="3720834" y="2823523"/>
                  <a:pt x="3739702" y="2799029"/>
                  <a:pt x="3754933" y="2768966"/>
                </a:cubicBezTo>
                <a:cubicBezTo>
                  <a:pt x="3764935" y="2749245"/>
                  <a:pt x="3778915" y="2730434"/>
                  <a:pt x="3794770" y="2715033"/>
                </a:cubicBezTo>
                <a:cubicBezTo>
                  <a:pt x="3819719" y="2690823"/>
                  <a:pt x="3836825" y="2692586"/>
                  <a:pt x="3863308" y="2716795"/>
                </a:cubicBezTo>
                <a:cubicBezTo>
                  <a:pt x="3879960" y="2708555"/>
                  <a:pt x="3896724" y="2700258"/>
                  <a:pt x="3912353" y="2692472"/>
                </a:cubicBezTo>
                <a:cubicBezTo>
                  <a:pt x="3921333" y="2698098"/>
                  <a:pt x="3931902" y="2708611"/>
                  <a:pt x="3935767" y="2706565"/>
                </a:cubicBezTo>
                <a:cubicBezTo>
                  <a:pt x="3969752" y="2688494"/>
                  <a:pt x="3983675" y="2718046"/>
                  <a:pt x="4001805" y="2733788"/>
                </a:cubicBezTo>
                <a:cubicBezTo>
                  <a:pt x="4029822" y="2758225"/>
                  <a:pt x="4040847" y="2760669"/>
                  <a:pt x="4069205" y="2736857"/>
                </a:cubicBezTo>
                <a:cubicBezTo>
                  <a:pt x="4096030" y="2714409"/>
                  <a:pt x="4120354" y="2688892"/>
                  <a:pt x="4147688" y="2667239"/>
                </a:cubicBezTo>
                <a:cubicBezTo>
                  <a:pt x="4212816" y="2615637"/>
                  <a:pt x="4278399" y="2564547"/>
                  <a:pt x="4345345" y="2515331"/>
                </a:cubicBezTo>
                <a:cubicBezTo>
                  <a:pt x="4362848" y="2502431"/>
                  <a:pt x="4380182" y="2493338"/>
                  <a:pt x="4389900" y="2471230"/>
                </a:cubicBezTo>
                <a:cubicBezTo>
                  <a:pt x="4395924" y="2457648"/>
                  <a:pt x="4413769" y="2448555"/>
                  <a:pt x="4427579" y="2439405"/>
                </a:cubicBezTo>
                <a:cubicBezTo>
                  <a:pt x="4445083" y="2427868"/>
                  <a:pt x="4463666" y="2417809"/>
                  <a:pt x="4482364" y="2408149"/>
                </a:cubicBezTo>
                <a:cubicBezTo>
                  <a:pt x="4489297" y="2404569"/>
                  <a:pt x="4497709" y="2403829"/>
                  <a:pt x="4505493" y="2402068"/>
                </a:cubicBezTo>
                <a:cubicBezTo>
                  <a:pt x="4528737" y="2396725"/>
                  <a:pt x="4554709" y="2396384"/>
                  <a:pt x="4574714" y="2385246"/>
                </a:cubicBezTo>
                <a:cubicBezTo>
                  <a:pt x="4606880" y="2367287"/>
                  <a:pt x="4639899" y="2360126"/>
                  <a:pt x="4675133" y="2362740"/>
                </a:cubicBezTo>
                <a:cubicBezTo>
                  <a:pt x="4695479" y="2364218"/>
                  <a:pt x="4710140" y="2359388"/>
                  <a:pt x="4726564" y="2346543"/>
                </a:cubicBezTo>
                <a:cubicBezTo>
                  <a:pt x="4756514" y="2323130"/>
                  <a:pt x="4787202" y="2303523"/>
                  <a:pt x="4830677" y="2305569"/>
                </a:cubicBezTo>
                <a:cubicBezTo>
                  <a:pt x="4911945" y="2309377"/>
                  <a:pt x="4954625" y="2276983"/>
                  <a:pt x="4985825" y="2201058"/>
                </a:cubicBezTo>
                <a:cubicBezTo>
                  <a:pt x="4990770" y="2189009"/>
                  <a:pt x="4996281" y="2176166"/>
                  <a:pt x="5004920" y="2166846"/>
                </a:cubicBezTo>
                <a:cubicBezTo>
                  <a:pt x="5036177" y="2133146"/>
                  <a:pt x="5070674" y="2102343"/>
                  <a:pt x="5100454" y="2067450"/>
                </a:cubicBezTo>
                <a:cubicBezTo>
                  <a:pt x="5122446" y="2041648"/>
                  <a:pt x="5145576" y="2034374"/>
                  <a:pt x="5177514" y="2043012"/>
                </a:cubicBezTo>
                <a:cubicBezTo>
                  <a:pt x="5187234" y="2045626"/>
                  <a:pt x="5205815" y="2042614"/>
                  <a:pt x="5209453" y="2036135"/>
                </a:cubicBezTo>
                <a:cubicBezTo>
                  <a:pt x="5225139" y="2007948"/>
                  <a:pt x="5248837" y="2010278"/>
                  <a:pt x="5275206" y="2009937"/>
                </a:cubicBezTo>
                <a:cubicBezTo>
                  <a:pt x="5302883" y="2009596"/>
                  <a:pt x="5335106" y="2010335"/>
                  <a:pt x="5356985" y="1996923"/>
                </a:cubicBezTo>
                <a:cubicBezTo>
                  <a:pt x="5387731" y="1978111"/>
                  <a:pt x="5415805" y="1976463"/>
                  <a:pt x="5448483" y="1981636"/>
                </a:cubicBezTo>
                <a:cubicBezTo>
                  <a:pt x="5469566" y="1984988"/>
                  <a:pt x="5491447" y="1985045"/>
                  <a:pt x="5512871" y="1984079"/>
                </a:cubicBezTo>
                <a:cubicBezTo>
                  <a:pt x="5535717" y="1983114"/>
                  <a:pt x="5575271" y="2004992"/>
                  <a:pt x="5582659" y="2026987"/>
                </a:cubicBezTo>
                <a:cubicBezTo>
                  <a:pt x="5594992" y="2063926"/>
                  <a:pt x="5637672" y="2082509"/>
                  <a:pt x="5641138" y="2124564"/>
                </a:cubicBezTo>
                <a:cubicBezTo>
                  <a:pt x="5641194" y="2125246"/>
                  <a:pt x="5642331" y="2125985"/>
                  <a:pt x="5643127" y="2126497"/>
                </a:cubicBezTo>
                <a:cubicBezTo>
                  <a:pt x="5670349" y="2144738"/>
                  <a:pt x="5696945" y="2164004"/>
                  <a:pt x="5725020" y="2180884"/>
                </a:cubicBezTo>
                <a:cubicBezTo>
                  <a:pt x="5763550" y="2204070"/>
                  <a:pt x="5805606" y="2195602"/>
                  <a:pt x="5846467" y="2189749"/>
                </a:cubicBezTo>
                <a:cubicBezTo>
                  <a:pt x="5900342" y="2182020"/>
                  <a:pt x="5945182" y="2192874"/>
                  <a:pt x="5976381" y="2241692"/>
                </a:cubicBezTo>
                <a:cubicBezTo>
                  <a:pt x="5981268" y="2249364"/>
                  <a:pt x="5992635" y="2254252"/>
                  <a:pt x="6002013" y="2257491"/>
                </a:cubicBezTo>
                <a:cubicBezTo>
                  <a:pt x="6052818" y="2274938"/>
                  <a:pt x="6103624" y="2292499"/>
                  <a:pt x="6155057" y="2307900"/>
                </a:cubicBezTo>
                <a:cubicBezTo>
                  <a:pt x="6186598" y="2317333"/>
                  <a:pt x="6218763" y="2324608"/>
                  <a:pt x="6252179" y="2311650"/>
                </a:cubicBezTo>
                <a:cubicBezTo>
                  <a:pt x="6284345" y="2299205"/>
                  <a:pt x="6315660" y="2300853"/>
                  <a:pt x="6347598" y="2317959"/>
                </a:cubicBezTo>
                <a:cubicBezTo>
                  <a:pt x="6363113" y="2326313"/>
                  <a:pt x="6384709" y="2329723"/>
                  <a:pt x="6402211" y="2326994"/>
                </a:cubicBezTo>
                <a:cubicBezTo>
                  <a:pt x="6474046" y="2315628"/>
                  <a:pt x="6545311" y="2300682"/>
                  <a:pt x="6616918" y="2287952"/>
                </a:cubicBezTo>
                <a:cubicBezTo>
                  <a:pt x="6625896" y="2286360"/>
                  <a:pt x="6638286" y="2286873"/>
                  <a:pt x="6644879" y="2291931"/>
                </a:cubicBezTo>
                <a:cubicBezTo>
                  <a:pt x="6692502" y="2328700"/>
                  <a:pt x="6684830" y="2338133"/>
                  <a:pt x="6752345" y="2293578"/>
                </a:cubicBezTo>
                <a:cubicBezTo>
                  <a:pt x="6764166" y="2285735"/>
                  <a:pt x="6775020" y="2276017"/>
                  <a:pt x="6787637" y="2269880"/>
                </a:cubicBezTo>
                <a:cubicBezTo>
                  <a:pt x="6799912" y="2263912"/>
                  <a:pt x="6813665" y="2259707"/>
                  <a:pt x="6827191" y="2257946"/>
                </a:cubicBezTo>
                <a:cubicBezTo>
                  <a:pt x="6857198" y="2254024"/>
                  <a:pt x="6887431" y="2252148"/>
                  <a:pt x="6921530" y="2249079"/>
                </a:cubicBezTo>
                <a:cubicBezTo>
                  <a:pt x="6932271" y="2263457"/>
                  <a:pt x="6947160" y="2283406"/>
                  <a:pt x="6961651" y="2302842"/>
                </a:cubicBezTo>
                <a:cubicBezTo>
                  <a:pt x="7008366" y="2265220"/>
                  <a:pt x="7050706" y="2228962"/>
                  <a:pt x="7095318" y="2195715"/>
                </a:cubicBezTo>
                <a:cubicBezTo>
                  <a:pt x="7141520" y="2161277"/>
                  <a:pt x="7190849" y="2131100"/>
                  <a:pt x="7236996" y="2096660"/>
                </a:cubicBezTo>
                <a:cubicBezTo>
                  <a:pt x="7293087" y="2054833"/>
                  <a:pt x="7347247" y="2010335"/>
                  <a:pt x="7402485" y="1967257"/>
                </a:cubicBezTo>
                <a:cubicBezTo>
                  <a:pt x="7428685" y="1946798"/>
                  <a:pt x="7439426" y="1949356"/>
                  <a:pt x="7454031" y="1975952"/>
                </a:cubicBezTo>
                <a:cubicBezTo>
                  <a:pt x="7461703" y="1989990"/>
                  <a:pt x="7469829" y="2004992"/>
                  <a:pt x="7481537" y="2015280"/>
                </a:cubicBezTo>
                <a:cubicBezTo>
                  <a:pt x="7495574" y="2027612"/>
                  <a:pt x="7514385" y="2044603"/>
                  <a:pt x="7529843" y="2043354"/>
                </a:cubicBezTo>
                <a:cubicBezTo>
                  <a:pt x="7567180" y="2040285"/>
                  <a:pt x="7606621" y="2041535"/>
                  <a:pt x="7640946" y="2019087"/>
                </a:cubicBezTo>
                <a:cubicBezTo>
                  <a:pt x="7651802" y="2011983"/>
                  <a:pt x="7668339" y="2012381"/>
                  <a:pt x="7682432" y="2011813"/>
                </a:cubicBezTo>
                <a:cubicBezTo>
                  <a:pt x="7707324" y="2010733"/>
                  <a:pt x="7725624" y="2002038"/>
                  <a:pt x="7736536" y="1978111"/>
                </a:cubicBezTo>
                <a:cubicBezTo>
                  <a:pt x="7739548" y="1971577"/>
                  <a:pt x="7751084" y="1962938"/>
                  <a:pt x="7756085" y="1964416"/>
                </a:cubicBezTo>
                <a:cubicBezTo>
                  <a:pt x="7777055" y="1970497"/>
                  <a:pt x="7791888" y="1959870"/>
                  <a:pt x="7799333" y="1945320"/>
                </a:cubicBezTo>
                <a:cubicBezTo>
                  <a:pt x="7820645" y="1903720"/>
                  <a:pt x="7857244" y="1905653"/>
                  <a:pt x="7893615" y="1909346"/>
                </a:cubicBezTo>
                <a:cubicBezTo>
                  <a:pt x="7939477" y="1913951"/>
                  <a:pt x="7974825" y="1891503"/>
                  <a:pt x="8009379" y="1867974"/>
                </a:cubicBezTo>
                <a:cubicBezTo>
                  <a:pt x="8024211" y="1857859"/>
                  <a:pt x="8033247" y="1852460"/>
                  <a:pt x="8047001" y="1868827"/>
                </a:cubicBezTo>
                <a:cubicBezTo>
                  <a:pt x="8066095" y="1891616"/>
                  <a:pt x="8087293" y="1912700"/>
                  <a:pt x="8108037" y="1934125"/>
                </a:cubicBezTo>
                <a:cubicBezTo>
                  <a:pt x="8138384" y="1965381"/>
                  <a:pt x="8138498" y="1965268"/>
                  <a:pt x="8167595" y="1933955"/>
                </a:cubicBezTo>
                <a:cubicBezTo>
                  <a:pt x="8194590" y="1904857"/>
                  <a:pt x="8228687" y="1904914"/>
                  <a:pt x="8247839" y="1939240"/>
                </a:cubicBezTo>
                <a:cubicBezTo>
                  <a:pt x="8276027" y="1989763"/>
                  <a:pt x="8332915" y="2004084"/>
                  <a:pt x="8369627" y="2043012"/>
                </a:cubicBezTo>
                <a:cubicBezTo>
                  <a:pt x="8371901" y="2045400"/>
                  <a:pt x="8376504" y="2046593"/>
                  <a:pt x="8380085" y="2046649"/>
                </a:cubicBezTo>
                <a:cubicBezTo>
                  <a:pt x="8442370" y="2047616"/>
                  <a:pt x="8506987" y="2056822"/>
                  <a:pt x="8562339" y="2019768"/>
                </a:cubicBezTo>
                <a:cubicBezTo>
                  <a:pt x="8617124" y="1983114"/>
                  <a:pt x="8668045" y="1940661"/>
                  <a:pt x="8721692" y="1902242"/>
                </a:cubicBezTo>
                <a:cubicBezTo>
                  <a:pt x="8769942" y="1867690"/>
                  <a:pt x="8816088" y="1826886"/>
                  <a:pt x="8869622" y="1803927"/>
                </a:cubicBezTo>
                <a:cubicBezTo>
                  <a:pt x="8933272" y="1776647"/>
                  <a:pt x="9003572" y="1764259"/>
                  <a:pt x="9071655" y="1748175"/>
                </a:cubicBezTo>
                <a:cubicBezTo>
                  <a:pt x="9088647" y="1744197"/>
                  <a:pt x="9108141" y="1751642"/>
                  <a:pt x="9126552" y="1752608"/>
                </a:cubicBezTo>
                <a:cubicBezTo>
                  <a:pt x="9137578" y="1753176"/>
                  <a:pt x="9151616" y="1755336"/>
                  <a:pt x="9159173" y="1749824"/>
                </a:cubicBezTo>
                <a:cubicBezTo>
                  <a:pt x="9177076" y="1736810"/>
                  <a:pt x="9190999" y="1739197"/>
                  <a:pt x="9203047" y="1754824"/>
                </a:cubicBezTo>
                <a:cubicBezTo>
                  <a:pt x="9221972" y="1779205"/>
                  <a:pt x="9238112" y="1773124"/>
                  <a:pt x="9258911" y="1755847"/>
                </a:cubicBezTo>
                <a:cubicBezTo>
                  <a:pt x="9320629" y="1704757"/>
                  <a:pt x="9383824" y="1655371"/>
                  <a:pt x="9446623" y="1605587"/>
                </a:cubicBezTo>
                <a:cubicBezTo>
                  <a:pt x="9452476" y="1600984"/>
                  <a:pt x="9460261" y="1598768"/>
                  <a:pt x="9465944" y="1593995"/>
                </a:cubicBezTo>
                <a:cubicBezTo>
                  <a:pt x="9479527" y="1582458"/>
                  <a:pt x="9496179" y="1572285"/>
                  <a:pt x="9504817" y="1557566"/>
                </a:cubicBezTo>
                <a:cubicBezTo>
                  <a:pt x="9533176" y="1509146"/>
                  <a:pt x="9567388" y="1469478"/>
                  <a:pt x="9625922" y="1459362"/>
                </a:cubicBezTo>
                <a:cubicBezTo>
                  <a:pt x="9652746" y="1454759"/>
                  <a:pt x="9676502" y="1446121"/>
                  <a:pt x="9694915" y="1424299"/>
                </a:cubicBezTo>
                <a:cubicBezTo>
                  <a:pt x="9699916" y="1418388"/>
                  <a:pt x="9711169" y="1417308"/>
                  <a:pt x="9719864" y="1415092"/>
                </a:cubicBezTo>
                <a:cubicBezTo>
                  <a:pt x="9752541" y="1406681"/>
                  <a:pt x="9789140" y="1405146"/>
                  <a:pt x="9817101" y="1388836"/>
                </a:cubicBezTo>
                <a:cubicBezTo>
                  <a:pt x="9848982" y="1370195"/>
                  <a:pt x="9872568" y="1337746"/>
                  <a:pt x="9901097" y="1312739"/>
                </a:cubicBezTo>
                <a:cubicBezTo>
                  <a:pt x="9922862" y="1293701"/>
                  <a:pt x="9949913" y="1279835"/>
                  <a:pt x="9968781" y="1258467"/>
                </a:cubicBezTo>
                <a:cubicBezTo>
                  <a:pt x="9996174" y="1227437"/>
                  <a:pt x="10011404" y="1187088"/>
                  <a:pt x="10052435" y="1166287"/>
                </a:cubicBezTo>
                <a:cubicBezTo>
                  <a:pt x="10076021" y="1154353"/>
                  <a:pt x="10092616" y="1129405"/>
                  <a:pt x="10114154" y="1112696"/>
                </a:cubicBezTo>
                <a:cubicBezTo>
                  <a:pt x="10170699" y="1068767"/>
                  <a:pt x="10231907" y="1066153"/>
                  <a:pt x="10295897" y="1095533"/>
                </a:cubicBezTo>
                <a:cubicBezTo>
                  <a:pt x="10300444" y="1097636"/>
                  <a:pt x="10306809" y="1097352"/>
                  <a:pt x="10311924" y="1096216"/>
                </a:cubicBezTo>
                <a:cubicBezTo>
                  <a:pt x="10364492" y="1084679"/>
                  <a:pt x="10416890" y="1072404"/>
                  <a:pt x="10469515" y="1061095"/>
                </a:cubicBezTo>
                <a:cubicBezTo>
                  <a:pt x="10544247" y="1045068"/>
                  <a:pt x="10611193" y="1019608"/>
                  <a:pt x="10669501" y="963573"/>
                </a:cubicBezTo>
                <a:cubicBezTo>
                  <a:pt x="10722638" y="912539"/>
                  <a:pt x="10789471" y="874860"/>
                  <a:pt x="10852950" y="835647"/>
                </a:cubicBezTo>
                <a:cubicBezTo>
                  <a:pt x="10900687" y="806152"/>
                  <a:pt x="10938140" y="768360"/>
                  <a:pt x="10973431" y="725567"/>
                </a:cubicBezTo>
                <a:cubicBezTo>
                  <a:pt x="11007416" y="684308"/>
                  <a:pt x="11043788" y="642935"/>
                  <a:pt x="11086240" y="611110"/>
                </a:cubicBezTo>
                <a:cubicBezTo>
                  <a:pt x="11182453" y="538935"/>
                  <a:pt x="11278611" y="467555"/>
                  <a:pt x="11357264" y="375377"/>
                </a:cubicBezTo>
                <a:cubicBezTo>
                  <a:pt x="11368801" y="361908"/>
                  <a:pt x="11384942" y="352473"/>
                  <a:pt x="11398011" y="340199"/>
                </a:cubicBezTo>
                <a:cubicBezTo>
                  <a:pt x="11422107" y="317580"/>
                  <a:pt x="11446829" y="295417"/>
                  <a:pt x="11469049" y="270979"/>
                </a:cubicBezTo>
                <a:cubicBezTo>
                  <a:pt x="11528721" y="205283"/>
                  <a:pt x="11585780" y="137257"/>
                  <a:pt x="11646758" y="72811"/>
                </a:cubicBezTo>
                <a:cubicBezTo>
                  <a:pt x="11670458" y="47749"/>
                  <a:pt x="11701259" y="29165"/>
                  <a:pt x="11729675" y="8876"/>
                </a:cubicBezTo>
                <a:cubicBezTo>
                  <a:pt x="11739904" y="1545"/>
                  <a:pt x="11750304" y="-841"/>
                  <a:pt x="11760548" y="25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2"/>
              </a:gs>
            </a:gsLst>
          </a:gra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pic>
        <p:nvPicPr>
          <p:cNvPr id="3" name="image1.png"/>
          <p:cNvPicPr>
            <a:picLocks noChangeAspect="1"/>
          </p:cNvPicPr>
          <p:nvPr/>
        </p:nvPicPr>
        <p:blipFill>
          <a:blip r:embed="rId2"/>
          <a:srcRect l="5976" r="18855" b="5558"/>
          <a:stretch>
            <a:fillRect/>
          </a:stretch>
        </p:blipFill>
        <p:spPr>
          <a:xfrm>
            <a:off x="0" y="1607186"/>
            <a:ext cx="12192000" cy="5236544"/>
          </a:xfrm>
          <a:custGeom>
            <a:avLst/>
            <a:gdLst/>
            <a:ahLst/>
            <a:cxnLst/>
            <a:rect l="0" t="0" r="0" b="0"/>
            <a:pathLst>
              <a:path w="12192000" h="5236544">
                <a:moveTo>
                  <a:pt x="0" y="0"/>
                </a:moveTo>
                <a:lnTo>
                  <a:pt x="12192000" y="0"/>
                </a:lnTo>
                <a:lnTo>
                  <a:pt x="12192000" y="5236544"/>
                </a:lnTo>
                <a:lnTo>
                  <a:pt x="0" y="5236544"/>
                </a:lnTo>
                <a:close/>
              </a:path>
            </a:pathLst>
          </a:custGeom>
        </p:spPr>
      </p:pic>
      <p:cxnSp>
        <p:nvCxnSpPr>
          <p:cNvPr id="4" name="Connector 4"/>
          <p:cNvCxnSpPr/>
          <p:nvPr/>
        </p:nvCxnSpPr>
        <p:spPr>
          <a:xfrm>
            <a:off x="354108" y="2448560"/>
            <a:ext cx="0" cy="224536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/>
              <a:tileRect/>
            </a:gradFill>
          </a:ln>
        </p:spPr>
      </p:cxnSp>
      <p:sp>
        <p:nvSpPr>
          <p:cNvPr id="5" name="TextBox 5"/>
          <p:cNvSpPr txBox="1"/>
          <p:nvPr/>
        </p:nvSpPr>
        <p:spPr>
          <a:xfrm>
            <a:off x="456780" y="2726969"/>
            <a:ext cx="36540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Revenue by Country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6781" y="3237614"/>
            <a:ext cx="3654000" cy="13000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10000"/>
              </a:lnSpc>
              <a:defRPr/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Geographic map highlighting top-performing markets.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4240237" y="1691031"/>
            <a:ext cx="0" cy="224536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/>
              <a:tileRect/>
            </a:gradFill>
          </a:ln>
        </p:spPr>
      </p:cxnSp>
      <p:sp>
        <p:nvSpPr>
          <p:cNvPr id="8" name="TextBox 8"/>
          <p:cNvSpPr txBox="1"/>
          <p:nvPr/>
        </p:nvSpPr>
        <p:spPr>
          <a:xfrm>
            <a:off x="4289517" y="1629972"/>
            <a:ext cx="36540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Revenue Trends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289517" y="2126347"/>
            <a:ext cx="3654000" cy="13000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10000"/>
              </a:lnSpc>
              <a:defRPr/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Line chart showing monthly and yearly revenue patterns.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8076848" y="919268"/>
            <a:ext cx="0" cy="224536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/>
              <a:tileRect/>
            </a:gradFill>
          </a:ln>
        </p:spPr>
      </p:cxnSp>
      <p:sp>
        <p:nvSpPr>
          <p:cNvPr id="11" name="TextBox 11"/>
          <p:cNvSpPr txBox="1"/>
          <p:nvPr/>
        </p:nvSpPr>
        <p:spPr>
          <a:xfrm>
            <a:off x="8137835" y="919268"/>
            <a:ext cx="36540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Revenue KPIs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137835" y="1415643"/>
            <a:ext cx="3654000" cy="1099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10000"/>
              </a:lnSpc>
              <a:defRPr/>
            </a:pPr>
            <a:r>
              <a:rPr lang="zh-CN" altLang="en-US" sz="14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Displays total revenue, average purchase value, and customer count.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flipV="1">
            <a:off x="3053619" y="4555755"/>
            <a:ext cx="0" cy="1973224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/>
              <a:tileRect/>
            </a:gradFill>
          </a:ln>
        </p:spPr>
      </p:cxnSp>
      <p:sp>
        <p:nvSpPr>
          <p:cNvPr id="14" name="TextBox 14"/>
          <p:cNvSpPr txBox="1"/>
          <p:nvPr/>
        </p:nvSpPr>
        <p:spPr>
          <a:xfrm>
            <a:off x="3181542" y="4958456"/>
            <a:ext cx="36540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bg1"/>
                </a:solidFill>
                <a:latin typeface="微软雅黑"/>
                <a:ea typeface="微软雅黑"/>
              </a:rPr>
              <a:t>Top Customers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181544" y="5474857"/>
            <a:ext cx="3654000" cy="13000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10000"/>
              </a:lnSpc>
              <a:defRPr/>
            </a:pPr>
            <a:r>
              <a:rPr lang="zh-CN" altLang="en-US" sz="1200" b="0" i="0" u="none" baseline="0">
                <a:solidFill>
                  <a:schemeClr val="bg1">
                    <a:alpha val="79000"/>
                  </a:schemeClr>
                </a:solidFill>
                <a:latin typeface="微软雅黑"/>
                <a:ea typeface="微软雅黑"/>
              </a:rPr>
              <a:t>Table or list of highest-value customers.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flipV="1">
            <a:off x="7472013" y="3985960"/>
            <a:ext cx="0" cy="2096433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/>
              <a:tileRect/>
            </a:gradFill>
          </a:ln>
        </p:spPr>
      </p:cxnSp>
      <p:sp>
        <p:nvSpPr>
          <p:cNvPr id="17" name="TextBox 17"/>
          <p:cNvSpPr txBox="1"/>
          <p:nvPr/>
        </p:nvSpPr>
        <p:spPr>
          <a:xfrm>
            <a:off x="7539870" y="4655629"/>
            <a:ext cx="36540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bg1"/>
                </a:solidFill>
                <a:latin typeface="微软雅黑"/>
                <a:ea typeface="微软雅黑"/>
              </a:rPr>
              <a:t>Genre Revenue Distribution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539871" y="5165356"/>
            <a:ext cx="3654000" cy="13000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10000"/>
              </a:lnSpc>
              <a:defRPr/>
            </a:pPr>
            <a:r>
              <a:rPr lang="zh-CN" altLang="en-US" sz="1200" b="0" i="0" u="none" baseline="0">
                <a:solidFill>
                  <a:schemeClr val="bg1">
                    <a:alpha val="79000"/>
                  </a:schemeClr>
                </a:solidFill>
                <a:latin typeface="微软雅黑"/>
                <a:ea typeface="微软雅黑"/>
              </a:rPr>
              <a:t>Pie chart or bar chart of revenue share by genre.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Visuals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Insights</a:t>
            </a:r>
          </a:p>
        </p:txBody>
      </p:sp>
      <p:sp>
        <p:nvSpPr>
          <p:cNvPr id="3" name="AutoShape 3"/>
          <p:cNvSpPr/>
          <p:nvPr/>
        </p:nvSpPr>
        <p:spPr>
          <a:xfrm>
            <a:off x="843279" y="2549451"/>
            <a:ext cx="2140097" cy="794261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anchor="ctr" anchorCtr="1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Top Market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880" y="2715747"/>
            <a:ext cx="726360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rmAutofit/>
          </a:bodyPr>
          <a:lstStyle/>
          <a:p>
            <a:pPr marL="0" algn="ctr">
              <a:defRPr/>
            </a:pPr>
            <a:r>
              <a:rPr lang="en-US" sz="2400" b="1" i="0" u="none" baseline="0">
                <a:gradFill>
                  <a:gsLst>
                    <a:gs pos="0">
                      <a:srgbClr val="8958EE">
                        <a:lumMod val="60000"/>
                        <a:lumOff val="40000"/>
                      </a:srgbClr>
                    </a:gs>
                    <a:gs pos="60000">
                      <a:srgbClr val="8958EE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27870" y="3418814"/>
            <a:ext cx="2751827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USA generates the highest revenue, indicating a strong market concentration.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719180" y="2549451"/>
            <a:ext cx="2140097" cy="794261"/>
          </a:xfrm>
          <a:prstGeom prst="roundRect">
            <a:avLst>
              <a:gd name="adj" fmla="val 50000"/>
            </a:avLst>
          </a:prstGeom>
          <a:solidFill>
            <a:schemeClr val="accent6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anchor="ctr" anchorCtr="1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Seasonal Growth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64596" y="2721311"/>
            <a:ext cx="654619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rmAutofit/>
          </a:bodyPr>
          <a:lstStyle/>
          <a:p>
            <a:pPr marL="0" algn="ctr">
              <a:defRPr/>
            </a:pPr>
            <a:r>
              <a:rPr lang="en-US" sz="2400" b="1" i="0" u="none" baseline="0">
                <a:gradFill>
                  <a:gsLst>
                    <a:gs pos="0">
                      <a:srgbClr val="95939D">
                        <a:lumMod val="60000"/>
                        <a:lumOff val="40000"/>
                      </a:srgbClr>
                    </a:gs>
                    <a:gs pos="60000">
                      <a:srgbClr val="95939D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3300466" y="3418829"/>
            <a:ext cx="2751827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Revenue peaks in Q4, suggesting holiday-driven purchasing behavior.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80090" y="2549451"/>
            <a:ext cx="2140097" cy="794261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anchor="ctr" anchorCtr="1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Customer Contribution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77671" y="2715747"/>
            <a:ext cx="643836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rmAutofit/>
          </a:bodyPr>
          <a:lstStyle/>
          <a:p>
            <a:pPr marL="0" algn="ctr">
              <a:defRPr/>
            </a:pPr>
            <a:r>
              <a:rPr lang="en-US" sz="2400" b="1" i="0" u="none" baseline="0">
                <a:gradFill>
                  <a:gsLst>
                    <a:gs pos="0">
                      <a:srgbClr val="B1B2ED">
                        <a:lumMod val="60000"/>
                        <a:lumOff val="40000"/>
                      </a:srgbClr>
                    </a:gs>
                    <a:gs pos="60000">
                      <a:srgbClr val="B1B2ED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187440" y="3418814"/>
            <a:ext cx="2751826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Top 10% of customers contribute over 40% of sales.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441000" y="2549450"/>
            <a:ext cx="2140097" cy="794261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anchor="ctr" anchorCtr="1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Genre Dominance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09547" y="2699203"/>
            <a:ext cx="531453" cy="49475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rmAutofit lnSpcReduction="10000"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en-US" sz="2400" b="1" i="0" u="none" baseline="0">
                <a:gradFill>
                  <a:gsLst>
                    <a:gs pos="0">
                      <a:srgbClr val="687CF3">
                        <a:lumMod val="60000"/>
                        <a:lumOff val="40000"/>
                      </a:srgbClr>
                    </a:gs>
                    <a:gs pos="60000">
                      <a:srgbClr val="687CF3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074413" y="3418813"/>
            <a:ext cx="2688567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Rock genre leads in revenue, followed by Latin and Metal.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3081" y="1130301"/>
            <a:ext cx="10858500" cy="1241964"/>
          </a:xfrm>
          <a:prstGeom prst="roundRect">
            <a:avLst>
              <a:gd name="adj" fmla="val 8000"/>
            </a:avLst>
          </a:prstGeom>
          <a:blipFill>
            <a:blip r:embed="rId2"/>
            <a:srcRect/>
            <a:stretch>
              <a:fillRect t="-81476" b="-8059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8FB4EF4-ACDC-704C-3BC3-73DED299E191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381000" y="228600"/>
            <a:ext cx="4654552" cy="6281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Eras Bold ITC" panose="020B0907030504020204" pitchFamily="34" charset="0"/>
              </a:rPr>
              <a:t>Executive Overview Page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FDD9C5-274B-6DD3-F50D-90FFB310D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66800"/>
            <a:ext cx="9434512" cy="545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6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Customer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atMod val="135000"/>
                <a:shade val="45000"/>
              </a:schemeClr>
              <a:prstClr val="white"/>
            </a:duotone>
            <a:alphaModFix amt="59000"/>
          </a:blip>
          <a:srcRect t="42232" b="26076"/>
          <a:stretch>
            <a:fillRect/>
          </a:stretch>
        </p:blipFill>
        <p:spPr>
          <a:xfrm>
            <a:off x="0" y="4401854"/>
            <a:ext cx="12192000" cy="2478067"/>
          </a:xfrm>
          <a:custGeom>
            <a:avLst/>
            <a:gdLst/>
            <a:ahLst/>
            <a:cxnLst/>
            <a:rect l="0" t="0" r="0" b="0"/>
            <a:pathLst>
              <a:path w="12192000" h="2478067">
                <a:moveTo>
                  <a:pt x="0" y="0"/>
                </a:moveTo>
                <a:lnTo>
                  <a:pt x="12192000" y="0"/>
                </a:lnTo>
                <a:lnTo>
                  <a:pt x="12192000" y="2478067"/>
                </a:lnTo>
                <a:lnTo>
                  <a:pt x="0" y="2478067"/>
                </a:lnTo>
                <a:close/>
              </a:path>
            </a:pathLst>
          </a:custGeom>
        </p:spPr>
      </p:pic>
      <p:sp>
        <p:nvSpPr>
          <p:cNvPr id="3" name="Freeform 3"/>
          <p:cNvSpPr/>
          <p:nvPr/>
        </p:nvSpPr>
        <p:spPr>
          <a:xfrm>
            <a:off x="640080" y="4778854"/>
            <a:ext cx="12192000" cy="2106130"/>
          </a:xfrm>
          <a:custGeom>
            <a:avLst/>
            <a:gdLst/>
            <a:ahLst/>
            <a:cxnLst/>
            <a:rect l="l" t="t" r="r" b="b"/>
            <a:pathLst>
              <a:path w="12192000" h="2106130">
                <a:moveTo>
                  <a:pt x="12192000" y="0"/>
                </a:moveTo>
                <a:lnTo>
                  <a:pt x="12192000" y="2106130"/>
                </a:lnTo>
                <a:lnTo>
                  <a:pt x="0" y="2106130"/>
                </a:lnTo>
                <a:lnTo>
                  <a:pt x="0" y="1397734"/>
                </a:lnTo>
                <a:lnTo>
                  <a:pt x="609998" y="1329366"/>
                </a:lnTo>
                <a:cubicBezTo>
                  <a:pt x="1059128" y="1274666"/>
                  <a:pt x="1510772" y="1216092"/>
                  <a:pt x="1970088" y="1183861"/>
                </a:cubicBezTo>
                <a:cubicBezTo>
                  <a:pt x="2888721" y="1119398"/>
                  <a:pt x="4023255" y="1139233"/>
                  <a:pt x="4776788" y="1064853"/>
                </a:cubicBezTo>
                <a:cubicBezTo>
                  <a:pt x="5530321" y="990473"/>
                  <a:pt x="5968471" y="805763"/>
                  <a:pt x="6491288" y="737582"/>
                </a:cubicBezTo>
                <a:cubicBezTo>
                  <a:pt x="7014105" y="669400"/>
                  <a:pt x="7456488" y="689235"/>
                  <a:pt x="7913688" y="655764"/>
                </a:cubicBezTo>
                <a:cubicBezTo>
                  <a:pt x="8370888" y="622293"/>
                  <a:pt x="8840788" y="593781"/>
                  <a:pt x="9234488" y="536756"/>
                </a:cubicBezTo>
                <a:cubicBezTo>
                  <a:pt x="9628188" y="479731"/>
                  <a:pt x="9975321" y="360723"/>
                  <a:pt x="10275888" y="313616"/>
                </a:cubicBezTo>
                <a:cubicBezTo>
                  <a:pt x="10576455" y="266509"/>
                  <a:pt x="10802938" y="293782"/>
                  <a:pt x="11037888" y="254113"/>
                </a:cubicBezTo>
                <a:cubicBezTo>
                  <a:pt x="11272838" y="214443"/>
                  <a:pt x="11391371" y="115270"/>
                  <a:pt x="11685588" y="75601"/>
                </a:cubicBezTo>
                <a:cubicBezTo>
                  <a:pt x="11832696" y="55767"/>
                  <a:pt x="11996474" y="35002"/>
                  <a:pt x="12165410" y="5405"/>
                </a:cubicBezTo>
                <a:lnTo>
                  <a:pt x="12192000" y="0"/>
                </a:lnTo>
                <a:close/>
              </a:path>
            </a:pathLst>
          </a:custGeom>
          <a:gradFill>
            <a:gsLst>
              <a:gs pos="3000">
                <a:schemeClr val="accent1">
                  <a:alpha val="10000"/>
                </a:schemeClr>
              </a:gs>
              <a:gs pos="100000">
                <a:schemeClr val="accent2">
                  <a:alpha val="10000"/>
                  <a:lumMod val="100000"/>
                </a:schemeClr>
              </a:gs>
            </a:gsLst>
          </a:gradFill>
          <a:ln cap="flat" cmpd="sng">
            <a:noFill/>
            <a:prstDash val="solid"/>
            <a:miter lim="800000"/>
          </a:ln>
          <a:effectLst/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704292" y="2079907"/>
            <a:ext cx="2103120" cy="4123589"/>
          </a:xfrm>
          <a:prstGeom prst="roundRect">
            <a:avLst>
              <a:gd name="adj" fmla="val 1545"/>
            </a:avLst>
          </a:prstGeom>
          <a:gradFill>
            <a:gsLst>
              <a:gs pos="0">
                <a:srgbClr val="640187">
                  <a:alpha val="5000"/>
                </a:srgbClr>
              </a:gs>
              <a:gs pos="100000">
                <a:srgbClr val="014D87">
                  <a:alpha val="5000"/>
                </a:srgbClr>
              </a:gs>
            </a:gsLst>
            <a:lin ang="108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69335" y="2480432"/>
            <a:ext cx="2103120" cy="3723064"/>
          </a:xfrm>
          <a:prstGeom prst="roundRect">
            <a:avLst>
              <a:gd name="adj" fmla="val 1545"/>
            </a:avLst>
          </a:prstGeom>
          <a:gradFill>
            <a:gsLst>
              <a:gs pos="0">
                <a:srgbClr val="640187">
                  <a:alpha val="5000"/>
                </a:srgbClr>
              </a:gs>
              <a:gs pos="100000">
                <a:srgbClr val="014D87">
                  <a:alpha val="5000"/>
                </a:srgbClr>
              </a:gs>
            </a:gsLst>
            <a:lin ang="108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136381" y="1728861"/>
            <a:ext cx="2103120" cy="4455277"/>
          </a:xfrm>
          <a:prstGeom prst="roundRect">
            <a:avLst>
              <a:gd name="adj" fmla="val 1545"/>
            </a:avLst>
          </a:prstGeom>
          <a:gradFill>
            <a:gsLst>
              <a:gs pos="0">
                <a:srgbClr val="640187">
                  <a:alpha val="5000"/>
                </a:srgbClr>
              </a:gs>
              <a:gs pos="100000">
                <a:srgbClr val="014D87">
                  <a:alpha val="5000"/>
                </a:srgbClr>
              </a:gs>
            </a:gsLst>
            <a:lin ang="108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503834" y="1383127"/>
            <a:ext cx="2103120" cy="4801011"/>
          </a:xfrm>
          <a:prstGeom prst="roundRect">
            <a:avLst>
              <a:gd name="adj" fmla="val 1545"/>
            </a:avLst>
          </a:prstGeom>
          <a:gradFill>
            <a:gsLst>
              <a:gs pos="0">
                <a:srgbClr val="640187">
                  <a:alpha val="5000"/>
                </a:srgbClr>
              </a:gs>
              <a:gs pos="100000">
                <a:srgbClr val="014D87">
                  <a:alpha val="5000"/>
                </a:srgbClr>
              </a:gs>
            </a:gsLst>
            <a:lin ang="108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893579" y="1037540"/>
            <a:ext cx="2103120" cy="5146598"/>
          </a:xfrm>
          <a:prstGeom prst="roundRect">
            <a:avLst>
              <a:gd name="adj" fmla="val 1545"/>
            </a:avLst>
          </a:prstGeom>
          <a:gradFill>
            <a:gsLst>
              <a:gs pos="0">
                <a:srgbClr val="640187">
                  <a:alpha val="5000"/>
                </a:srgbClr>
              </a:gs>
              <a:gs pos="100000">
                <a:srgbClr val="014D87">
                  <a:alpha val="5000"/>
                </a:srgbClr>
              </a:gs>
            </a:gsLst>
            <a:lin ang="108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795752" y="3176588"/>
            <a:ext cx="1902371" cy="617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Plot of spend vs. frequency with segment colors.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795469" y="2309086"/>
            <a:ext cx="1906434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Purchase Behavior Scatter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>
            <a:off x="2940605" y="3105115"/>
            <a:ext cx="1660322" cy="0"/>
          </a:xfrm>
          <a:prstGeom prst="line">
            <a:avLst/>
          </a:prstGeom>
          <a:ln w="9525">
            <a:solidFill>
              <a:srgbClr val="640187"/>
            </a:solidFill>
            <a:prstDash val="dash"/>
          </a:ln>
        </p:spPr>
      </p:cxnSp>
      <p:sp>
        <p:nvSpPr>
          <p:cNvPr id="12" name="TextBox 12"/>
          <p:cNvSpPr txBox="1"/>
          <p:nvPr/>
        </p:nvSpPr>
        <p:spPr>
          <a:xfrm>
            <a:off x="420415" y="3527294"/>
            <a:ext cx="1870840" cy="617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Heatmap of customer density by country.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21321" y="2659257"/>
            <a:ext cx="1854803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Geographic Customer Analysis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>
            <a:off x="538151" y="3455286"/>
            <a:ext cx="1660322" cy="0"/>
          </a:xfrm>
          <a:prstGeom prst="line">
            <a:avLst/>
          </a:prstGeom>
          <a:ln w="9525">
            <a:solidFill>
              <a:srgbClr val="640187"/>
            </a:solidFill>
            <a:prstDash val="dash"/>
          </a:ln>
        </p:spPr>
      </p:cxnSp>
      <p:sp>
        <p:nvSpPr>
          <p:cNvPr id="15" name="TextBox 15"/>
          <p:cNvSpPr txBox="1"/>
          <p:nvPr/>
        </p:nvSpPr>
        <p:spPr>
          <a:xfrm>
            <a:off x="5286704" y="2782981"/>
            <a:ext cx="1842798" cy="617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Histogram showing distribution of transaction counts.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286895" y="1894601"/>
            <a:ext cx="1842798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Purchase Frequency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5406119" y="2690630"/>
            <a:ext cx="1660322" cy="0"/>
          </a:xfrm>
          <a:prstGeom prst="line">
            <a:avLst/>
          </a:prstGeom>
          <a:ln w="9525">
            <a:solidFill>
              <a:srgbClr val="640187"/>
            </a:solidFill>
            <a:prstDash val="dash"/>
          </a:ln>
        </p:spPr>
      </p:cxnSp>
      <p:sp>
        <p:nvSpPr>
          <p:cNvPr id="18" name="TextBox 18"/>
          <p:cNvSpPr txBox="1"/>
          <p:nvPr/>
        </p:nvSpPr>
        <p:spPr>
          <a:xfrm>
            <a:off x="7651531" y="2462882"/>
            <a:ext cx="1796340" cy="617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Comparison of repeat purchase rates across segments.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638594" y="1592862"/>
            <a:ext cx="1809278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Repeat vs One-Time Buyers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>
            <a:off x="7787549" y="2388891"/>
            <a:ext cx="1660322" cy="0"/>
          </a:xfrm>
          <a:prstGeom prst="line">
            <a:avLst/>
          </a:prstGeom>
          <a:ln w="9525">
            <a:solidFill>
              <a:srgbClr val="640187"/>
            </a:solidFill>
            <a:prstDash val="dash"/>
          </a:ln>
        </p:spPr>
      </p:cxnSp>
      <p:sp>
        <p:nvSpPr>
          <p:cNvPr id="21" name="TextBox 21"/>
          <p:cNvSpPr txBox="1"/>
          <p:nvPr/>
        </p:nvSpPr>
        <p:spPr>
          <a:xfrm>
            <a:off x="10037379" y="2009912"/>
            <a:ext cx="1870842" cy="617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Clusters based on purchase frequency and spend.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037934" y="1163552"/>
            <a:ext cx="1857466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Customer Segmentation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>
            <a:off x="10126936" y="1931689"/>
            <a:ext cx="1660322" cy="0"/>
          </a:xfrm>
          <a:prstGeom prst="line">
            <a:avLst/>
          </a:prstGeom>
          <a:ln w="9525">
            <a:solidFill>
              <a:srgbClr val="640187"/>
            </a:solidFill>
            <a:prstDash val="dash"/>
          </a:ln>
        </p:spPr>
      </p:cxnSp>
      <p:sp>
        <p:nvSpPr>
          <p:cNvPr id="24" name="Freeform 24"/>
          <p:cNvSpPr/>
          <p:nvPr/>
        </p:nvSpPr>
        <p:spPr>
          <a:xfrm>
            <a:off x="-735012" y="4634082"/>
            <a:ext cx="13411200" cy="1569415"/>
          </a:xfrm>
          <a:custGeom>
            <a:avLst/>
            <a:gdLst/>
            <a:ahLst/>
            <a:cxnLst/>
            <a:rect l="l" t="t" r="r" b="b"/>
            <a:pathLst>
              <a:path w="13411200" h="2679700">
                <a:moveTo>
                  <a:pt x="0" y="2679700"/>
                </a:moveTo>
                <a:cubicBezTo>
                  <a:pt x="898525" y="2622550"/>
                  <a:pt x="1786467" y="2332567"/>
                  <a:pt x="2705100" y="2222500"/>
                </a:cubicBezTo>
                <a:cubicBezTo>
                  <a:pt x="3623733" y="2112433"/>
                  <a:pt x="4758267" y="2146300"/>
                  <a:pt x="5511800" y="2019300"/>
                </a:cubicBezTo>
                <a:cubicBezTo>
                  <a:pt x="6265333" y="1892300"/>
                  <a:pt x="6703483" y="1576917"/>
                  <a:pt x="7226300" y="1460500"/>
                </a:cubicBezTo>
                <a:cubicBezTo>
                  <a:pt x="7749117" y="1344083"/>
                  <a:pt x="8191500" y="1377950"/>
                  <a:pt x="8648700" y="1320800"/>
                </a:cubicBezTo>
                <a:cubicBezTo>
                  <a:pt x="9105900" y="1263650"/>
                  <a:pt x="9575800" y="1214967"/>
                  <a:pt x="9969500" y="1117600"/>
                </a:cubicBezTo>
                <a:cubicBezTo>
                  <a:pt x="10363200" y="1020233"/>
                  <a:pt x="10710333" y="817033"/>
                  <a:pt x="11010900" y="736600"/>
                </a:cubicBezTo>
                <a:cubicBezTo>
                  <a:pt x="11311467" y="656167"/>
                  <a:pt x="11537950" y="702733"/>
                  <a:pt x="11772900" y="635000"/>
                </a:cubicBezTo>
                <a:cubicBezTo>
                  <a:pt x="12007850" y="567267"/>
                  <a:pt x="12126383" y="397933"/>
                  <a:pt x="12420600" y="330200"/>
                </a:cubicBezTo>
                <a:cubicBezTo>
                  <a:pt x="12714817" y="262467"/>
                  <a:pt x="13075708" y="188383"/>
                  <a:pt x="13411200" y="0"/>
                </a:cubicBezTo>
              </a:path>
            </a:pathLst>
          </a:custGeom>
          <a:noFill/>
          <a:ln w="66675">
            <a:gradFill>
              <a:gsLst>
                <a:gs pos="3000">
                  <a:schemeClr val="accent1"/>
                </a:gs>
                <a:gs pos="6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</a:gradFill>
          </a:ln>
          <a:effectLst/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-735012" y="6117484"/>
            <a:ext cx="735012" cy="86013"/>
          </a:xfrm>
          <a:custGeom>
            <a:avLst/>
            <a:gdLst/>
            <a:ahLst/>
            <a:cxnLst/>
            <a:rect l="l" t="t" r="r" b="b"/>
            <a:pathLst>
              <a:path w="735012" h="86013">
                <a:moveTo>
                  <a:pt x="735012" y="0"/>
                </a:moveTo>
                <a:lnTo>
                  <a:pt x="735012" y="32119"/>
                </a:lnTo>
                <a:lnTo>
                  <a:pt x="672554" y="39119"/>
                </a:lnTo>
                <a:cubicBezTo>
                  <a:pt x="448601" y="60755"/>
                  <a:pt x="224631" y="77645"/>
                  <a:pt x="0" y="86013"/>
                </a:cubicBezTo>
                <a:lnTo>
                  <a:pt x="735012" y="0"/>
                </a:ln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  <a:miter lim="800000"/>
          </a:ln>
          <a:effectLst/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-735012" y="4716523"/>
            <a:ext cx="13411200" cy="1569415"/>
          </a:xfrm>
          <a:custGeom>
            <a:avLst/>
            <a:gdLst/>
            <a:ahLst/>
            <a:cxnLst/>
            <a:rect l="l" t="t" r="r" b="b"/>
            <a:pathLst>
              <a:path w="13411200" h="2679700">
                <a:moveTo>
                  <a:pt x="0" y="2679700"/>
                </a:moveTo>
                <a:cubicBezTo>
                  <a:pt x="898525" y="2622550"/>
                  <a:pt x="1786467" y="2332567"/>
                  <a:pt x="2705100" y="2222500"/>
                </a:cubicBezTo>
                <a:cubicBezTo>
                  <a:pt x="3623733" y="2112433"/>
                  <a:pt x="4758267" y="2146300"/>
                  <a:pt x="5511800" y="2019300"/>
                </a:cubicBezTo>
                <a:cubicBezTo>
                  <a:pt x="6265333" y="1892300"/>
                  <a:pt x="6703483" y="1576917"/>
                  <a:pt x="7226300" y="1460500"/>
                </a:cubicBezTo>
                <a:cubicBezTo>
                  <a:pt x="7749117" y="1344083"/>
                  <a:pt x="8191500" y="1377950"/>
                  <a:pt x="8648700" y="1320800"/>
                </a:cubicBezTo>
                <a:cubicBezTo>
                  <a:pt x="9105900" y="1263650"/>
                  <a:pt x="9575800" y="1214967"/>
                  <a:pt x="9969500" y="1117600"/>
                </a:cubicBezTo>
                <a:cubicBezTo>
                  <a:pt x="10363200" y="1020233"/>
                  <a:pt x="10710333" y="817033"/>
                  <a:pt x="11010900" y="736600"/>
                </a:cubicBezTo>
                <a:cubicBezTo>
                  <a:pt x="11311467" y="656167"/>
                  <a:pt x="11537950" y="702733"/>
                  <a:pt x="11772900" y="635000"/>
                </a:cubicBezTo>
                <a:cubicBezTo>
                  <a:pt x="12007850" y="567267"/>
                  <a:pt x="12126383" y="397933"/>
                  <a:pt x="12420600" y="330200"/>
                </a:cubicBezTo>
                <a:cubicBezTo>
                  <a:pt x="12714817" y="262467"/>
                  <a:pt x="13075708" y="188383"/>
                  <a:pt x="13411200" y="0"/>
                </a:cubicBezTo>
              </a:path>
            </a:pathLst>
          </a:custGeom>
          <a:noFill/>
          <a:ln w="384175">
            <a:gradFill>
              <a:gsLst>
                <a:gs pos="3000">
                  <a:schemeClr val="accent1">
                    <a:alpha val="70000"/>
                  </a:schemeClr>
                </a:gs>
                <a:gs pos="60000">
                  <a:schemeClr val="accent2">
                    <a:alpha val="8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</a:gradFill>
          </a:ln>
          <a:effectLst>
            <a:outerShdw blurRad="50800" dist="152400" dir="5400000" algn="t" rotWithShape="0">
              <a:srgbClr val="000000">
                <a:alpha val="16000"/>
              </a:srgbClr>
            </a:outerShdw>
            <a:softEdge rad="190500"/>
          </a:effectLst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Visuals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Insights</a:t>
            </a:r>
          </a:p>
        </p:txBody>
      </p:sp>
      <p:sp>
        <p:nvSpPr>
          <p:cNvPr id="3" name="AutoShape 3"/>
          <p:cNvSpPr/>
          <p:nvPr/>
        </p:nvSpPr>
        <p:spPr>
          <a:xfrm>
            <a:off x="4761924" y="1062443"/>
            <a:ext cx="7047638" cy="172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561253" y="1207694"/>
            <a:ext cx="5957646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600" b="1" i="0" u="none" baseline="0">
                <a:solidFill>
                  <a:srgbClr val="000000"/>
                </a:solidFill>
                <a:effectLst/>
                <a:latin typeface="+mn-ea"/>
                <a:ea typeface="+mn-ea"/>
              </a:rPr>
              <a:t>Repeat Buyers</a:t>
            </a:r>
          </a:p>
        </p:txBody>
      </p:sp>
      <p:sp>
        <p:nvSpPr>
          <p:cNvPr id="5" name="AutoShape 5"/>
          <p:cNvSpPr/>
          <p:nvPr/>
        </p:nvSpPr>
        <p:spPr>
          <a:xfrm>
            <a:off x="5561254" y="1583739"/>
            <a:ext cx="5957645" cy="45471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Repeat customers drive 75% of total purchases, indicating loyalty.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77924" y="1374329"/>
            <a:ext cx="540000" cy="540000"/>
          </a:xfrm>
          <a:prstGeom prst="ellipse">
            <a:avLst/>
          </a:prstGeom>
          <a:gradFill>
            <a:gsLst>
              <a:gs pos="0">
                <a:srgbClr val="8958EE">
                  <a:lumMod val="60000"/>
                  <a:lumOff val="40000"/>
                </a:srgbClr>
              </a:gs>
              <a:gs pos="50000">
                <a:srgbClr val="8958EE"/>
              </a:gs>
            </a:gsLst>
            <a:lin ang="2700000"/>
          </a:gradFill>
          <a:ln>
            <a:noFill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0" tIns="0" rIns="0" bIns="0" rtlCol="0" anchor="ctr">
            <a:norm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761924" y="2961949"/>
            <a:ext cx="7047638" cy="172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561253" y="3103819"/>
            <a:ext cx="5957646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600" b="1" i="0" u="none" baseline="0">
                <a:solidFill>
                  <a:srgbClr val="000000"/>
                </a:solidFill>
                <a:effectLst/>
                <a:latin typeface="+mn-ea"/>
                <a:ea typeface="+mn-ea"/>
              </a:rPr>
              <a:t>High-Value Patterns</a:t>
            </a:r>
          </a:p>
        </p:txBody>
      </p:sp>
      <p:sp>
        <p:nvSpPr>
          <p:cNvPr id="9" name="AutoShape 9"/>
          <p:cNvSpPr/>
          <p:nvPr/>
        </p:nvSpPr>
        <p:spPr>
          <a:xfrm>
            <a:off x="5561254" y="3479864"/>
            <a:ext cx="5957645" cy="45471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High-spend customers exhibit consistent monthly buying cycles.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77924" y="3241825"/>
            <a:ext cx="540000" cy="540000"/>
          </a:xfrm>
          <a:prstGeom prst="ellipse">
            <a:avLst/>
          </a:prstGeom>
          <a:gradFill>
            <a:gsLst>
              <a:gs pos="0">
                <a:srgbClr val="CE64EE">
                  <a:lumMod val="60000"/>
                  <a:lumOff val="40000"/>
                </a:srgbClr>
              </a:gs>
              <a:gs pos="50000">
                <a:srgbClr val="CE64EE"/>
              </a:gs>
            </a:gsLst>
            <a:lin ang="2700000"/>
          </a:gradFill>
          <a:ln>
            <a:noFill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0" tIns="0" rIns="0" bIns="0" rtlCol="0" anchor="ctr">
            <a:norm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61924" y="4877971"/>
            <a:ext cx="7047638" cy="172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561253" y="4993964"/>
            <a:ext cx="5957646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en-US" sz="1600" b="1" i="0" u="none" baseline="0">
                <a:solidFill>
                  <a:srgbClr val="000000"/>
                </a:solidFill>
                <a:effectLst/>
                <a:latin typeface="+mn-ea"/>
                <a:ea typeface="+mn-ea"/>
              </a:rPr>
              <a:t>Regional Variation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561254" y="5370009"/>
            <a:ext cx="5957645" cy="45471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North American customers purchase 30% more frequently than European.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77924" y="5163218"/>
            <a:ext cx="540000" cy="540000"/>
          </a:xfrm>
          <a:prstGeom prst="ellipse">
            <a:avLst/>
          </a:prstGeom>
          <a:gradFill>
            <a:gsLst>
              <a:gs pos="0">
                <a:srgbClr val="687CF3">
                  <a:lumMod val="60000"/>
                  <a:lumOff val="40000"/>
                </a:srgbClr>
              </a:gs>
              <a:gs pos="50000">
                <a:srgbClr val="687CF3"/>
              </a:gs>
            </a:gsLst>
            <a:lin ang="2700000"/>
          </a:gradFill>
          <a:ln>
            <a:noFill/>
          </a:ln>
          <a:effectLst>
            <a:outerShdw blurRad="177800" dist="152400" dir="2700000" algn="tl" rotWithShape="0">
              <a:schemeClr val="accent3">
                <a:alpha val="20000"/>
              </a:schemeClr>
            </a:outerShdw>
          </a:effectLst>
        </p:spPr>
        <p:txBody>
          <a:bodyPr vert="horz" lIns="0" tIns="0" rIns="0" bIns="0" rtlCol="0" anchor="ctr">
            <a:norm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616311" y="1725355"/>
            <a:ext cx="1887722" cy="3764266"/>
          </a:xfrm>
          <a:prstGeom prst="roundRect">
            <a:avLst>
              <a:gd name="adj" fmla="val 11621"/>
            </a:avLst>
          </a:prstGeom>
          <a:blipFill>
            <a:blip r:embed="rId2">
              <a:alphaModFix amt="47000"/>
            </a:blip>
            <a:srcRect/>
            <a:stretch>
              <a:fillRect l="-120758" r="-105601" b="-9109"/>
            </a:stretch>
          </a:blip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0" y="800467"/>
            <a:ext cx="2959260" cy="5918519"/>
          </a:xfrm>
          <a:custGeom>
            <a:avLst/>
            <a:gdLst/>
            <a:ahLst/>
            <a:cxnLst/>
            <a:rect l="l" t="t" r="r" b="b"/>
            <a:pathLst>
              <a:path w="2286000" h="4572000">
                <a:moveTo>
                  <a:pt x="0" y="0"/>
                </a:moveTo>
                <a:cubicBezTo>
                  <a:pt x="1262523" y="0"/>
                  <a:pt x="2286000" y="1023477"/>
                  <a:pt x="2286000" y="2286000"/>
                </a:cubicBezTo>
                <a:cubicBezTo>
                  <a:pt x="2286000" y="3548523"/>
                  <a:pt x="1262523" y="4572000"/>
                  <a:pt x="0" y="4572000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9360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707B584-76FE-0A87-94AC-C4196FBAC085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381000" y="228600"/>
            <a:ext cx="4654552" cy="6281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latin typeface="Eras Bold ITC" panose="020B0907030504020204" pitchFamily="34" charset="0"/>
              </a:rPr>
              <a:t>Customer Intelligence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CFFBD4-279A-E818-BB7F-3E08CD13E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0200" y="1066800"/>
            <a:ext cx="9434511" cy="545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25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Music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42316" y="737137"/>
            <a:ext cx="3707366" cy="3707366"/>
          </a:xfrm>
          <a:prstGeom prst="ellipse">
            <a:avLst/>
          </a:prstGeom>
          <a:noFill/>
          <a:ln w="19050">
            <a:gradFill>
              <a:gsLst>
                <a:gs pos="20000">
                  <a:srgbClr val="FFFFFF">
                    <a:alpha val="0"/>
                  </a:srgbClr>
                </a:gs>
                <a:gs pos="96000">
                  <a:srgbClr val="7ECEF4"/>
                </a:gs>
              </a:gsLst>
              <a:lin ang="5400000"/>
            </a:gradFill>
          </a:ln>
          <a:effectLst/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0" y="6059978"/>
            <a:ext cx="12192000" cy="798021"/>
          </a:xfrm>
          <a:custGeom>
            <a:avLst/>
            <a:gdLst/>
            <a:ahLst/>
            <a:cxnLst/>
            <a:rect l="l" t="t" r="r" b="b"/>
            <a:pathLst>
              <a:path w="12192000" h="2123066">
                <a:moveTo>
                  <a:pt x="12192000" y="0"/>
                </a:moveTo>
                <a:lnTo>
                  <a:pt x="12192000" y="2123066"/>
                </a:lnTo>
                <a:lnTo>
                  <a:pt x="0" y="2123066"/>
                </a:lnTo>
                <a:lnTo>
                  <a:pt x="0" y="171755"/>
                </a:lnTo>
                <a:lnTo>
                  <a:pt x="193839" y="256275"/>
                </a:lnTo>
                <a:cubicBezTo>
                  <a:pt x="1581559" y="825765"/>
                  <a:pt x="3630726" y="1186005"/>
                  <a:pt x="5916583" y="1186005"/>
                </a:cubicBezTo>
                <a:cubicBezTo>
                  <a:pt x="8365716" y="1186005"/>
                  <a:pt x="10543138" y="772464"/>
                  <a:pt x="11926417" y="131094"/>
                </a:cubicBezTo>
                <a:close/>
              </a:path>
            </a:pathLst>
          </a:custGeom>
          <a:gradFill>
            <a:gsLst>
              <a:gs pos="0">
                <a:srgbClr val="F29C9F"/>
              </a:gs>
              <a:gs pos="63000">
                <a:srgbClr val="F29C9F"/>
              </a:gs>
              <a:gs pos="98276">
                <a:srgbClr val="F29C9F"/>
              </a:gs>
            </a:gsLst>
            <a:lin ang="27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0" y="6328350"/>
            <a:ext cx="12192000" cy="541354"/>
          </a:xfrm>
          <a:custGeom>
            <a:avLst/>
            <a:gdLst/>
            <a:ahLst/>
            <a:cxnLst/>
            <a:rect l="l" t="t" r="r" b="b"/>
            <a:pathLst>
              <a:path w="12192000" h="2123066">
                <a:moveTo>
                  <a:pt x="12192000" y="0"/>
                </a:moveTo>
                <a:lnTo>
                  <a:pt x="12192000" y="2123066"/>
                </a:lnTo>
                <a:lnTo>
                  <a:pt x="0" y="2123066"/>
                </a:lnTo>
                <a:lnTo>
                  <a:pt x="0" y="171755"/>
                </a:lnTo>
                <a:lnTo>
                  <a:pt x="193839" y="256275"/>
                </a:lnTo>
                <a:cubicBezTo>
                  <a:pt x="1581559" y="825765"/>
                  <a:pt x="3630726" y="1186005"/>
                  <a:pt x="5916583" y="1186005"/>
                </a:cubicBezTo>
                <a:cubicBezTo>
                  <a:pt x="8365716" y="1186005"/>
                  <a:pt x="10543138" y="772464"/>
                  <a:pt x="11926417" y="131094"/>
                </a:cubicBezTo>
                <a:close/>
              </a:path>
            </a:pathLst>
          </a:custGeom>
          <a:gradFill>
            <a:gsLst>
              <a:gs pos="0">
                <a:srgbClr val="7ECEF4"/>
              </a:gs>
              <a:gs pos="46552">
                <a:srgbClr val="F29C9F"/>
              </a:gs>
              <a:gs pos="95402">
                <a:srgbClr val="7ECEF4"/>
              </a:gs>
            </a:gsLst>
            <a:lin ang="2700000"/>
          </a:gra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405000" y="1833388"/>
            <a:ext cx="2948800" cy="16247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Stacked bar of genre makeup within top playlists.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5000" y="1336882"/>
            <a:ext cx="29488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Playlist Composition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8504283" y="2259267"/>
            <a:ext cx="258252" cy="0"/>
          </a:xfrm>
          <a:prstGeom prst="line">
            <a:avLst/>
          </a:prstGeom>
          <a:ln w="12700">
            <a:gradFill>
              <a:gsLst>
                <a:gs pos="0">
                  <a:srgbClr val="7ECEF4"/>
                </a:gs>
                <a:gs pos="100000">
                  <a:srgbClr val="F29C9F"/>
                </a:gs>
              </a:gsLst>
              <a:lin ang="5400000"/>
            </a:gradFill>
          </a:ln>
        </p:spPr>
      </p:cxnSp>
      <p:sp>
        <p:nvSpPr>
          <p:cNvPr id="8" name="AutoShape 8"/>
          <p:cNvSpPr/>
          <p:nvPr/>
        </p:nvSpPr>
        <p:spPr>
          <a:xfrm>
            <a:off x="8045094" y="4090260"/>
            <a:ext cx="2948800" cy="16247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Shows shifting genre market share over time.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45094" y="3593754"/>
            <a:ext cx="29488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Ribbon Chart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8145193" y="3807762"/>
            <a:ext cx="258252" cy="0"/>
          </a:xfrm>
          <a:prstGeom prst="line">
            <a:avLst/>
          </a:prstGeom>
          <a:ln w="12700">
            <a:gradFill>
              <a:gsLst>
                <a:gs pos="0">
                  <a:srgbClr val="7ECEF4"/>
                </a:gs>
                <a:gs pos="100000">
                  <a:srgbClr val="F29C9F"/>
                </a:gs>
              </a:gsLst>
              <a:lin ang="5400000"/>
            </a:gradFill>
          </a:ln>
        </p:spPr>
      </p:cxnSp>
      <p:sp>
        <p:nvSpPr>
          <p:cNvPr id="11" name="AutoShape 11"/>
          <p:cNvSpPr/>
          <p:nvPr/>
        </p:nvSpPr>
        <p:spPr>
          <a:xfrm>
            <a:off x="4419600" y="5301467"/>
            <a:ext cx="3343671" cy="140314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Table of top-performing tracks with sales and revenue.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19599" y="4804961"/>
            <a:ext cx="3343671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Track Analysis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>
            <a:off x="5966874" y="5296681"/>
            <a:ext cx="258252" cy="0"/>
          </a:xfrm>
          <a:prstGeom prst="line">
            <a:avLst/>
          </a:prstGeom>
          <a:ln w="12700">
            <a:gradFill>
              <a:gsLst>
                <a:gs pos="0">
                  <a:srgbClr val="7ECEF4"/>
                </a:gs>
                <a:gs pos="100000">
                  <a:srgbClr val="F29C9F"/>
                </a:gs>
              </a:gsLst>
              <a:lin ang="5400000"/>
            </a:gradFill>
          </a:ln>
        </p:spPr>
      </p:cxnSp>
      <p:sp>
        <p:nvSpPr>
          <p:cNvPr id="14" name="AutoShape 14"/>
          <p:cNvSpPr/>
          <p:nvPr/>
        </p:nvSpPr>
        <p:spPr>
          <a:xfrm>
            <a:off x="944175" y="1868106"/>
            <a:ext cx="2798554" cy="16247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Time-series line chart of genre popularity over quarters.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4174" y="1371600"/>
            <a:ext cx="2798554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Genre Trends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>
            <a:off x="3378597" y="2264053"/>
            <a:ext cx="258252" cy="0"/>
          </a:xfrm>
          <a:prstGeom prst="line">
            <a:avLst/>
          </a:prstGeom>
          <a:ln w="12700">
            <a:gradFill>
              <a:gsLst>
                <a:gs pos="0">
                  <a:srgbClr val="7ECEF4"/>
                </a:gs>
                <a:gs pos="100000">
                  <a:srgbClr val="F29C9F"/>
                </a:gs>
              </a:gsLst>
              <a:lin ang="5400000"/>
            </a:gradFill>
          </a:ln>
        </p:spPr>
      </p:cxnSp>
      <p:sp>
        <p:nvSpPr>
          <p:cNvPr id="17" name="AutoShape 17"/>
          <p:cNvSpPr/>
          <p:nvPr/>
        </p:nvSpPr>
        <p:spPr>
          <a:xfrm>
            <a:off x="1377087" y="4166460"/>
            <a:ext cx="2798554" cy="16247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Bar chart comparing playlist engagement (listens per playlist).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7087" y="3669954"/>
            <a:ext cx="2798554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Playlist Intelligence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>
            <a:off x="3811510" y="3812548"/>
            <a:ext cx="258252" cy="0"/>
          </a:xfrm>
          <a:prstGeom prst="line">
            <a:avLst/>
          </a:prstGeom>
          <a:ln w="12700">
            <a:gradFill>
              <a:gsLst>
                <a:gs pos="0">
                  <a:srgbClr val="7ECEF4"/>
                </a:gs>
                <a:gs pos="100000">
                  <a:srgbClr val="F29C9F"/>
                </a:gs>
              </a:gsLst>
              <a:lin ang="5400000"/>
            </a:gradFill>
          </a:ln>
        </p:spPr>
      </p:cxnSp>
      <p:sp>
        <p:nvSpPr>
          <p:cNvPr id="20" name="AutoShape 20"/>
          <p:cNvSpPr/>
          <p:nvPr/>
        </p:nvSpPr>
        <p:spPr>
          <a:xfrm>
            <a:off x="5060948" y="1553376"/>
            <a:ext cx="2070102" cy="2070102"/>
          </a:xfrm>
          <a:prstGeom prst="donut">
            <a:avLst>
              <a:gd name="adj" fmla="val 8905"/>
            </a:avLst>
          </a:prstGeom>
          <a:solidFill>
            <a:schemeClr val="accent1">
              <a:alpha val="10000"/>
            </a:schemeClr>
          </a:solidFill>
          <a:ln>
            <a:noFill/>
          </a:ln>
          <a:effectLst/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702646" y="1195074"/>
            <a:ext cx="2786706" cy="2786706"/>
          </a:xfrm>
          <a:prstGeom prst="ellipse">
            <a:avLst/>
          </a:prstGeom>
          <a:noFill/>
          <a:ln w="19050" cap="rnd">
            <a:gradFill>
              <a:gsLst>
                <a:gs pos="20000">
                  <a:srgbClr val="FFFFFF">
                    <a:alpha val="0"/>
                  </a:srgbClr>
                </a:gs>
                <a:gs pos="97000">
                  <a:srgbClr val="7ECEF4"/>
                </a:gs>
              </a:gsLst>
              <a:lin ang="5400000"/>
            </a:gradFill>
            <a:prstDash val="sysDot"/>
          </a:ln>
          <a:effectLst/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892749" y="1974163"/>
            <a:ext cx="659876" cy="65987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228600" dist="152400" dir="5400000" sx="90000" sy="90000" algn="t" rotWithShape="0">
              <a:schemeClr val="accent1">
                <a:alpha val="10000"/>
              </a:schemeClr>
            </a:outerShdw>
          </a:effectLst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r>
              <a:rPr lang="en-US" sz="20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16830" y="1974163"/>
            <a:ext cx="659876" cy="65987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228600" dist="152400" dir="5400000" sx="90000" sy="90000" algn="t" rotWithShape="0">
              <a:schemeClr val="accent1">
                <a:alpha val="10000"/>
              </a:schemeClr>
            </a:outerShdw>
          </a:effectLst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r>
              <a:rPr lang="en-US" sz="20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224099" y="3359182"/>
            <a:ext cx="659876" cy="65987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228600" dist="152400" dir="5400000" sx="90000" sy="90000" algn="t" rotWithShape="0">
              <a:schemeClr val="accent1">
                <a:alpha val="10000"/>
              </a:schemeClr>
            </a:outerShdw>
          </a:effectLst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r>
              <a:rPr lang="en-US" sz="20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308025" y="3359182"/>
            <a:ext cx="659876" cy="65987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228600" dist="152400" dir="5400000" sx="90000" sy="90000" algn="t" rotWithShape="0">
              <a:schemeClr val="accent1">
                <a:alpha val="10000"/>
              </a:schemeClr>
            </a:outerShdw>
          </a:effectLst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r>
              <a:rPr lang="en-US" sz="20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AutoShape 26"/>
          <p:cNvSpPr/>
          <p:nvPr/>
        </p:nvSpPr>
        <p:spPr>
          <a:xfrm>
            <a:off x="5766062" y="4114565"/>
            <a:ext cx="659876" cy="65987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228600" dist="152400" dir="5400000" sx="90000" sy="90000" algn="t" rotWithShape="0">
              <a:schemeClr val="accent1">
                <a:alpha val="10000"/>
              </a:schemeClr>
            </a:outerShdw>
          </a:effectLst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r>
              <a:rPr lang="en-US" sz="20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387972" y="1880400"/>
            <a:ext cx="1416054" cy="1416054"/>
            <a:chOff x="5387972" y="1880400"/>
            <a:chExt cx="1416054" cy="1416054"/>
          </a:xfrm>
        </p:grpSpPr>
        <p:sp>
          <p:nvSpPr>
            <p:cNvPr id="28" name="AutoShape 28"/>
            <p:cNvSpPr/>
            <p:nvPr/>
          </p:nvSpPr>
          <p:spPr>
            <a:xfrm>
              <a:off x="5387972" y="1880400"/>
              <a:ext cx="1416054" cy="1416054"/>
            </a:xfrm>
            <a:prstGeom prst="ellipse">
              <a:avLst/>
            </a:prstGeom>
            <a:gradFill>
              <a:gsLst>
                <a:gs pos="0">
                  <a:srgbClr val="7ECEF4">
                    <a:lumMod val="60000"/>
                    <a:lumOff val="40000"/>
                  </a:srgbClr>
                </a:gs>
                <a:gs pos="60000">
                  <a:srgbClr val="7ECEF4"/>
                </a:gs>
              </a:gsLst>
              <a:lin ang="2700000"/>
            </a:gradFill>
            <a:ln cap="rnd">
              <a:noFill/>
              <a:prstDash val="solid"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34467" y="2114722"/>
              <a:ext cx="1123064" cy="2616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</p:grpSp>
      <p:sp>
        <p:nvSpPr>
          <p:cNvPr id="30" name="AutoShape 30"/>
          <p:cNvSpPr/>
          <p:nvPr/>
        </p:nvSpPr>
        <p:spPr>
          <a:xfrm>
            <a:off x="4804420" y="1296848"/>
            <a:ext cx="2583158" cy="2583158"/>
          </a:xfrm>
          <a:prstGeom prst="ellipse">
            <a:avLst/>
          </a:prstGeom>
          <a:noFill/>
          <a:ln w="19050" cap="rnd">
            <a:gradFill>
              <a:gsLst>
                <a:gs pos="20000">
                  <a:srgbClr val="FFFFFF">
                    <a:alpha val="0"/>
                  </a:srgbClr>
                </a:gs>
                <a:gs pos="97000">
                  <a:srgbClr val="7ECEF4"/>
                </a:gs>
              </a:gsLst>
              <a:lin ang="5400000"/>
            </a:gradFill>
            <a:prstDash val="solid"/>
          </a:ln>
          <a:effectLst/>
        </p:spPr>
        <p:txBody>
          <a:bodyPr vert="horz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Visuals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Insights</a:t>
            </a:r>
          </a:p>
        </p:txBody>
      </p:sp>
      <p:grpSp>
        <p:nvGrpSpPr>
          <p:cNvPr id="3" name="Group 3"/>
          <p:cNvGrpSpPr/>
          <p:nvPr/>
        </p:nvGrpSpPr>
        <p:grpSpPr>
          <a:xfrm rot="21314955">
            <a:off x="-1226458" y="2774632"/>
            <a:ext cx="14644914" cy="2027172"/>
            <a:chOff x="-1357086" y="2808513"/>
            <a:chExt cx="14644914" cy="2027172"/>
          </a:xfrm>
        </p:grpSpPr>
        <p:sp>
          <p:nvSpPr>
            <p:cNvPr id="4" name="Freeform 4"/>
            <p:cNvSpPr/>
            <p:nvPr/>
          </p:nvSpPr>
          <p:spPr>
            <a:xfrm>
              <a:off x="-1357086" y="2866571"/>
              <a:ext cx="14383657" cy="1771492"/>
            </a:xfrm>
            <a:custGeom>
              <a:avLst/>
              <a:gdLst/>
              <a:ahLst/>
              <a:cxnLst/>
              <a:rect l="l" t="t" r="r" b="b"/>
              <a:pathLst>
                <a:path w="14383657" h="2111829">
                  <a:moveTo>
                    <a:pt x="0" y="2111829"/>
                  </a:moveTo>
                  <a:cubicBezTo>
                    <a:pt x="620485" y="1631648"/>
                    <a:pt x="1240971" y="1151467"/>
                    <a:pt x="1814285" y="1117600"/>
                  </a:cubicBezTo>
                  <a:cubicBezTo>
                    <a:pt x="2387599" y="1083733"/>
                    <a:pt x="2737152" y="1978781"/>
                    <a:pt x="3439885" y="1908629"/>
                  </a:cubicBezTo>
                  <a:cubicBezTo>
                    <a:pt x="4142618" y="1838477"/>
                    <a:pt x="5289247" y="749905"/>
                    <a:pt x="6030685" y="696686"/>
                  </a:cubicBezTo>
                  <a:cubicBezTo>
                    <a:pt x="6772123" y="643467"/>
                    <a:pt x="7218438" y="1611086"/>
                    <a:pt x="7888514" y="1589315"/>
                  </a:cubicBezTo>
                  <a:cubicBezTo>
                    <a:pt x="8558590" y="1567544"/>
                    <a:pt x="9368972" y="625324"/>
                    <a:pt x="10051143" y="566057"/>
                  </a:cubicBezTo>
                  <a:cubicBezTo>
                    <a:pt x="10733314" y="506790"/>
                    <a:pt x="11259457" y="1328058"/>
                    <a:pt x="11981543" y="1233715"/>
                  </a:cubicBezTo>
                  <a:cubicBezTo>
                    <a:pt x="12703629" y="1139372"/>
                    <a:pt x="13543643" y="569686"/>
                    <a:pt x="14383657" y="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-1349829" y="3018971"/>
              <a:ext cx="14586857" cy="1473200"/>
            </a:xfrm>
            <a:custGeom>
              <a:avLst/>
              <a:gdLst/>
              <a:ahLst/>
              <a:cxnLst/>
              <a:rect l="l" t="t" r="r" b="b"/>
              <a:pathLst>
                <a:path w="14586857" h="1756229">
                  <a:moveTo>
                    <a:pt x="0" y="1756229"/>
                  </a:moveTo>
                  <a:cubicBezTo>
                    <a:pt x="620485" y="1276048"/>
                    <a:pt x="1352247" y="1151467"/>
                    <a:pt x="1959428" y="1117600"/>
                  </a:cubicBezTo>
                  <a:cubicBezTo>
                    <a:pt x="2566609" y="1083733"/>
                    <a:pt x="2940352" y="1623181"/>
                    <a:pt x="3643085" y="1553029"/>
                  </a:cubicBezTo>
                  <a:cubicBezTo>
                    <a:pt x="4345818" y="1482877"/>
                    <a:pt x="5473095" y="737810"/>
                    <a:pt x="6175828" y="696686"/>
                  </a:cubicBezTo>
                  <a:cubicBezTo>
                    <a:pt x="6878561" y="655562"/>
                    <a:pt x="7189409" y="1328057"/>
                    <a:pt x="7859485" y="1306286"/>
                  </a:cubicBezTo>
                  <a:cubicBezTo>
                    <a:pt x="8529561" y="1284515"/>
                    <a:pt x="9493553" y="628952"/>
                    <a:pt x="10196286" y="566057"/>
                  </a:cubicBezTo>
                  <a:cubicBezTo>
                    <a:pt x="10899019" y="503162"/>
                    <a:pt x="11353800" y="1023258"/>
                    <a:pt x="12075886" y="928915"/>
                  </a:cubicBezTo>
                  <a:cubicBezTo>
                    <a:pt x="12797972" y="834572"/>
                    <a:pt x="13746843" y="569686"/>
                    <a:pt x="14586857" y="0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prstDash val="sysDot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-1182915" y="2808513"/>
              <a:ext cx="14470743" cy="2027172"/>
            </a:xfrm>
            <a:custGeom>
              <a:avLst/>
              <a:gdLst/>
              <a:ahLst/>
              <a:cxnLst/>
              <a:rect l="l" t="t" r="r" b="b"/>
              <a:pathLst>
                <a:path w="14470743" h="2416629">
                  <a:moveTo>
                    <a:pt x="0" y="2416629"/>
                  </a:moveTo>
                  <a:cubicBezTo>
                    <a:pt x="620485" y="1936448"/>
                    <a:pt x="1342571" y="1152676"/>
                    <a:pt x="1915885" y="1117600"/>
                  </a:cubicBezTo>
                  <a:cubicBezTo>
                    <a:pt x="2489199" y="1082524"/>
                    <a:pt x="2731105" y="2279953"/>
                    <a:pt x="3439886" y="2206172"/>
                  </a:cubicBezTo>
                  <a:cubicBezTo>
                    <a:pt x="4148667" y="2132391"/>
                    <a:pt x="5442857" y="714830"/>
                    <a:pt x="6168571" y="674915"/>
                  </a:cubicBezTo>
                  <a:cubicBezTo>
                    <a:pt x="6894285" y="635001"/>
                    <a:pt x="7116838" y="1984828"/>
                    <a:pt x="7794171" y="1966685"/>
                  </a:cubicBezTo>
                  <a:cubicBezTo>
                    <a:pt x="8471504" y="1948542"/>
                    <a:pt x="9525001" y="641046"/>
                    <a:pt x="10232572" y="566056"/>
                  </a:cubicBezTo>
                  <a:cubicBezTo>
                    <a:pt x="10940144" y="491066"/>
                    <a:pt x="11317514" y="1611086"/>
                    <a:pt x="12039600" y="1516743"/>
                  </a:cubicBezTo>
                  <a:cubicBezTo>
                    <a:pt x="12761686" y="1422400"/>
                    <a:pt x="13630729" y="569686"/>
                    <a:pt x="14470743" y="0"/>
                  </a:cubicBezTo>
                </a:path>
              </a:pathLst>
            </a:custGeom>
            <a:noFill/>
            <a:ln w="6350">
              <a:gradFill>
                <a:gsLst>
                  <a:gs pos="0">
                    <a:srgbClr val="8958EE">
                      <a:alpha val="5000"/>
                    </a:srgbClr>
                  </a:gs>
                  <a:gs pos="74000">
                    <a:srgbClr val="8958EE"/>
                  </a:gs>
                  <a:gs pos="83000">
                    <a:srgbClr val="8958EE">
                      <a:lumMod val="45000"/>
                      <a:lumOff val="55000"/>
                    </a:srgbClr>
                  </a:gs>
                  <a:gs pos="100000">
                    <a:srgbClr val="8958EE">
                      <a:lumMod val="30000"/>
                      <a:lumOff val="70000"/>
                    </a:srgbClr>
                  </a:gs>
                </a:gsLst>
              </a:gradFill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450318" y="4136474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719741" y="3950586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010171" y="3705286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60398" y="1605795"/>
            <a:ext cx="467935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0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Genre Shifts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66509" y="1901246"/>
            <a:ext cx="4673240" cy="34509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Rock's share declined 5% while Latin grew 8% year-over-year.</a:t>
            </a:r>
            <a:endParaRPr lang="en-US" sz="1100"/>
          </a:p>
        </p:txBody>
      </p:sp>
      <p:grpSp>
        <p:nvGrpSpPr>
          <p:cNvPr id="12" name="Group 12"/>
          <p:cNvGrpSpPr/>
          <p:nvPr/>
        </p:nvGrpSpPr>
        <p:grpSpPr>
          <a:xfrm>
            <a:off x="439132" y="1721945"/>
            <a:ext cx="159042" cy="2558286"/>
            <a:chOff x="713942" y="1824835"/>
            <a:chExt cx="159042" cy="2558286"/>
          </a:xfrm>
        </p:grpSpPr>
        <p:cxnSp>
          <p:nvCxnSpPr>
            <p:cNvPr id="13" name="Connector 13"/>
            <p:cNvCxnSpPr/>
            <p:nvPr/>
          </p:nvCxnSpPr>
          <p:spPr>
            <a:xfrm flipH="1" flipV="1">
              <a:off x="793463" y="1983877"/>
              <a:ext cx="1" cy="2399244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sp>
          <p:nvSpPr>
            <p:cNvPr id="14" name="AutoShape 14"/>
            <p:cNvSpPr/>
            <p:nvPr/>
          </p:nvSpPr>
          <p:spPr>
            <a:xfrm>
              <a:off x="713942" y="1824835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925690" y="1207547"/>
            <a:ext cx="46800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0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Playlist Efficiency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25689" y="1501272"/>
            <a:ext cx="4680000" cy="34509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Curated playlists (e.g., "Rock Classics") have 3x higher engagement than algorithm-based.</a:t>
            </a:r>
            <a:endParaRPr lang="en-US" sz="1100"/>
          </a:p>
        </p:txBody>
      </p:sp>
      <p:grpSp>
        <p:nvGrpSpPr>
          <p:cNvPr id="17" name="Group 17"/>
          <p:cNvGrpSpPr/>
          <p:nvPr/>
        </p:nvGrpSpPr>
        <p:grpSpPr>
          <a:xfrm>
            <a:off x="6708555" y="1177909"/>
            <a:ext cx="159042" cy="2772677"/>
            <a:chOff x="712487" y="1863333"/>
            <a:chExt cx="159042" cy="2772677"/>
          </a:xfrm>
        </p:grpSpPr>
        <p:cxnSp>
          <p:nvCxnSpPr>
            <p:cNvPr id="18" name="Connector 18"/>
            <p:cNvCxnSpPr/>
            <p:nvPr/>
          </p:nvCxnSpPr>
          <p:spPr>
            <a:xfrm flipV="1">
              <a:off x="761529" y="2022375"/>
              <a:ext cx="30479" cy="2613635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sp>
          <p:nvSpPr>
            <p:cNvPr id="19" name="AutoShape 19"/>
            <p:cNvSpPr/>
            <p:nvPr/>
          </p:nvSpPr>
          <p:spPr>
            <a:xfrm>
              <a:off x="712487" y="1863333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flipV="1">
            <a:off x="4010171" y="3937858"/>
            <a:ext cx="159042" cy="893154"/>
            <a:chOff x="713942" y="1569009"/>
            <a:chExt cx="159042" cy="893154"/>
          </a:xfrm>
        </p:grpSpPr>
        <p:cxnSp>
          <p:nvCxnSpPr>
            <p:cNvPr id="21" name="Connector 21"/>
            <p:cNvCxnSpPr/>
            <p:nvPr/>
          </p:nvCxnSpPr>
          <p:spPr>
            <a:xfrm flipH="1" flipV="1">
              <a:off x="793463" y="1728051"/>
              <a:ext cx="1" cy="734112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sp>
          <p:nvSpPr>
            <p:cNvPr id="22" name="AutoShape 22"/>
            <p:cNvSpPr/>
            <p:nvPr/>
          </p:nvSpPr>
          <p:spPr>
            <a:xfrm>
              <a:off x="713942" y="1569009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248734" y="4619699"/>
            <a:ext cx="54818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0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Consistent Performers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4248734" y="4947928"/>
            <a:ext cx="5481862" cy="34509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Pop and Electronic maintain stable revenue despite seasonal dips.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96FA696-7652-B296-F35F-0BE73FB3B6E7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381000" y="228600"/>
            <a:ext cx="4654552" cy="6281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latin typeface="Eras Bold ITC" panose="020B0907030504020204" pitchFamily="34" charset="0"/>
              </a:rPr>
              <a:t>Music Revenue Intelligence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57008-761D-F471-19DF-5A90506A0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0200" y="1066800"/>
            <a:ext cx="9434511" cy="54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34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Insights Hub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08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200000">
            <a:off x="846471" y="1628262"/>
            <a:ext cx="3887634" cy="6607341"/>
          </a:xfrm>
          <a:custGeom>
            <a:avLst/>
            <a:gdLst/>
            <a:ahLst/>
            <a:cxnLst/>
            <a:rect l="l" t="t" r="r" b="b"/>
            <a:pathLst>
              <a:path w="7929" h="13488">
                <a:moveTo>
                  <a:pt x="0" y="0"/>
                </a:moveTo>
                <a:cubicBezTo>
                  <a:pt x="2849" y="0"/>
                  <a:pt x="5624" y="901"/>
                  <a:pt x="7929" y="2576"/>
                </a:cubicBezTo>
                <a:lnTo>
                  <a:pt x="0" y="1348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6000">
                <a:schemeClr val="accent4">
                  <a:alpha val="0"/>
                </a:schemeClr>
              </a:gs>
              <a:gs pos="100000">
                <a:srgbClr val="0070C0">
                  <a:alpha val="10000"/>
                </a:srgbClr>
              </a:gs>
            </a:gsLst>
            <a:lin ang="8100000"/>
            <a:tileRect/>
          </a:gradFill>
          <a:ln w="76200">
            <a:solidFill>
              <a:schemeClr val="bg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" name="Freeform 3"/>
          <p:cNvSpPr/>
          <p:nvPr/>
        </p:nvSpPr>
        <p:spPr>
          <a:xfrm rot="16200000">
            <a:off x="276801" y="1058592"/>
            <a:ext cx="6288819" cy="5345495"/>
          </a:xfrm>
          <a:custGeom>
            <a:avLst/>
            <a:gdLst/>
            <a:ahLst/>
            <a:cxnLst/>
            <a:rect l="l" t="t" r="r" b="b"/>
            <a:pathLst>
              <a:path w="6415" h="5456">
                <a:moveTo>
                  <a:pt x="3965" y="0"/>
                </a:moveTo>
                <a:cubicBezTo>
                  <a:pt x="5117" y="837"/>
                  <a:pt x="5975" y="2018"/>
                  <a:pt x="6415" y="3372"/>
                </a:cubicBezTo>
                <a:lnTo>
                  <a:pt x="0" y="5456"/>
                </a:lnTo>
                <a:lnTo>
                  <a:pt x="3965" y="0"/>
                </a:lnTo>
                <a:close/>
              </a:path>
            </a:pathLst>
          </a:custGeom>
          <a:gradFill flip="none" rotWithShape="1">
            <a:gsLst>
              <a:gs pos="26000">
                <a:schemeClr val="accent4">
                  <a:alpha val="0"/>
                </a:schemeClr>
              </a:gs>
              <a:gs pos="100000">
                <a:srgbClr val="0070C0">
                  <a:alpha val="20000"/>
                </a:srgbClr>
              </a:gs>
            </a:gsLst>
            <a:lin ang="8100000"/>
            <a:tileRect/>
          </a:gradFill>
          <a:ln w="76200">
            <a:solidFill>
              <a:schemeClr val="bg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Freeform 4"/>
          <p:cNvSpPr/>
          <p:nvPr/>
        </p:nvSpPr>
        <p:spPr>
          <a:xfrm rot="16200000">
            <a:off x="5624338" y="1056551"/>
            <a:ext cx="6288819" cy="5349577"/>
          </a:xfrm>
          <a:custGeom>
            <a:avLst/>
            <a:gdLst/>
            <a:ahLst/>
            <a:cxnLst/>
            <a:rect l="l" t="t" r="r" b="b"/>
            <a:pathLst>
              <a:path w="6415" h="5457">
                <a:moveTo>
                  <a:pt x="6415" y="2085"/>
                </a:moveTo>
                <a:cubicBezTo>
                  <a:pt x="5975" y="3439"/>
                  <a:pt x="5117" y="4620"/>
                  <a:pt x="3965" y="5457"/>
                </a:cubicBezTo>
                <a:lnTo>
                  <a:pt x="0" y="0"/>
                </a:lnTo>
                <a:lnTo>
                  <a:pt x="6415" y="2085"/>
                </a:lnTo>
                <a:close/>
              </a:path>
            </a:pathLst>
          </a:custGeom>
          <a:gradFill flip="none" rotWithShape="1">
            <a:gsLst>
              <a:gs pos="26000">
                <a:schemeClr val="accent4">
                  <a:alpha val="0"/>
                </a:schemeClr>
              </a:gs>
              <a:gs pos="100000">
                <a:srgbClr val="0070C0">
                  <a:alpha val="20000"/>
                </a:srgbClr>
              </a:gs>
            </a:gsLst>
            <a:lin ang="13500000"/>
            <a:tileRect/>
          </a:gradFill>
          <a:ln w="76200">
            <a:solidFill>
              <a:schemeClr val="bg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" name="Freeform 5"/>
          <p:cNvSpPr/>
          <p:nvPr/>
        </p:nvSpPr>
        <p:spPr>
          <a:xfrm rot="16200000">
            <a:off x="7455854" y="1626219"/>
            <a:ext cx="3887634" cy="6611425"/>
          </a:xfrm>
          <a:custGeom>
            <a:avLst/>
            <a:gdLst/>
            <a:ahLst/>
            <a:cxnLst/>
            <a:rect l="l" t="t" r="r" b="b"/>
            <a:pathLst>
              <a:path w="7929" h="13489">
                <a:moveTo>
                  <a:pt x="7929" y="10913"/>
                </a:moveTo>
                <a:cubicBezTo>
                  <a:pt x="5624" y="12588"/>
                  <a:pt x="2849" y="13489"/>
                  <a:pt x="0" y="13489"/>
                </a:cubicBezTo>
                <a:lnTo>
                  <a:pt x="0" y="0"/>
                </a:lnTo>
                <a:lnTo>
                  <a:pt x="7929" y="10913"/>
                </a:lnTo>
                <a:close/>
              </a:path>
            </a:pathLst>
          </a:custGeom>
          <a:gradFill flip="none" rotWithShape="1">
            <a:gsLst>
              <a:gs pos="26000">
                <a:schemeClr val="accent4">
                  <a:alpha val="0"/>
                </a:schemeClr>
              </a:gs>
              <a:gs pos="100000">
                <a:srgbClr val="0070C0">
                  <a:alpha val="10000"/>
                </a:srgbClr>
              </a:gs>
            </a:gsLst>
            <a:lin ang="13500000"/>
            <a:tileRect/>
          </a:gradFill>
          <a:ln w="76200">
            <a:solidFill>
              <a:schemeClr val="bg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431014" y="1719565"/>
            <a:ext cx="2858606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Sankey Chart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431014" y="2272969"/>
            <a:ext cx="2858607" cy="1476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just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Flow of customers from first purchase to repeat purchase by genre.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7898487" y="1719565"/>
            <a:ext cx="285860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Heatmap Matrix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898487" y="2272969"/>
            <a:ext cx="2858607" cy="1476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Cross-table of genre by month showing revenue intensity.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41612" y="4191000"/>
            <a:ext cx="2203403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Radar Chart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240834" y="4846503"/>
            <a:ext cx="2208265" cy="10334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just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Multi-dimensional comparison of customer segments on spend, frequency, recency.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687847" y="4191000"/>
            <a:ext cx="2208265" cy="7386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Strategic KPI Cards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9687847" y="4846503"/>
            <a:ext cx="2208265" cy="1476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Highlight key metrics such as Customer Lifetime Value, Churn Rate, and Revenue per User.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664751" y="1143000"/>
            <a:ext cx="285860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Decomposition Tree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664751" y="1696404"/>
            <a:ext cx="2858607" cy="10334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Drill down into revenue drivers (genre → artist → track).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Advanced Visuals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89649" y="1373776"/>
            <a:ext cx="5975031" cy="4476892"/>
            <a:chOff x="5543869" y="1653723"/>
            <a:chExt cx="5975031" cy="4476892"/>
          </a:xfrm>
        </p:grpSpPr>
        <p:sp>
          <p:nvSpPr>
            <p:cNvPr id="3" name="AutoShape 3"/>
            <p:cNvSpPr/>
            <p:nvPr/>
          </p:nvSpPr>
          <p:spPr>
            <a:xfrm>
              <a:off x="5543869" y="2325929"/>
              <a:ext cx="3469387" cy="3467782"/>
            </a:xfrm>
            <a:prstGeom prst="roundRect">
              <a:avLst>
                <a:gd name="adj" fmla="val 7022"/>
              </a:avLst>
            </a:prstGeom>
            <a:blipFill>
              <a:blip r:embed="rId2"/>
              <a:srcRect/>
              <a:stretch>
                <a:fillRect l="-25057" r="-24875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9154623" y="1653723"/>
              <a:ext cx="1946191" cy="1945290"/>
            </a:xfrm>
            <a:prstGeom prst="roundRect">
              <a:avLst>
                <a:gd name="adj" fmla="val 7022"/>
              </a:avLst>
            </a:prstGeom>
            <a:blipFill>
              <a:blip r:embed="rId3"/>
              <a:srcRect/>
              <a:stretch>
                <a:fillRect l="-37340" r="-37340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9154623" y="3767433"/>
              <a:ext cx="2364277" cy="2363182"/>
            </a:xfrm>
            <a:prstGeom prst="roundRect">
              <a:avLst>
                <a:gd name="adj" fmla="val 7022"/>
              </a:avLst>
            </a:prstGeom>
            <a:blipFill>
              <a:blip r:embed="rId4"/>
              <a:srcRect/>
              <a:stretch>
                <a:fillRect l="-25119" r="-25119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4999" y="4943793"/>
            <a:ext cx="502234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Content Utilization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flipH="1">
            <a:off x="834999" y="5292507"/>
            <a:ext cx="5022340" cy="34509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Only 30% of tracks generate 90% of revenue; long-tail content is underutilized.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0" y="4891728"/>
            <a:ext cx="639919" cy="584775"/>
          </a:xfrm>
          <a:prstGeom prst="rect">
            <a:avLst/>
          </a:prstGeom>
          <a:noFill/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3200" b="1" i="1" u="none" baseline="0">
                <a:gradFill>
                  <a:gsLst>
                    <a:gs pos="0">
                      <a:srgbClr val="687CF3">
                        <a:lumMod val="60000"/>
                        <a:lumOff val="40000"/>
                      </a:srgbClr>
                    </a:gs>
                    <a:gs pos="60000">
                      <a:srgbClr val="687CF3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01000" y="1283094"/>
            <a:ext cx="502234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Revenue Drivers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flipH="1">
            <a:off x="800997" y="1631808"/>
            <a:ext cx="5022340" cy="34509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Rock and Latin genres drive 60% of total revenue.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320" y="1231029"/>
            <a:ext cx="639919" cy="584775"/>
          </a:xfrm>
          <a:prstGeom prst="rect">
            <a:avLst/>
          </a:prstGeom>
          <a:noFill/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3200" b="1" i="1" u="none" baseline="0">
                <a:gradFill>
                  <a:gsLst>
                    <a:gs pos="0">
                      <a:srgbClr val="8958EE">
                        <a:lumMod val="60000"/>
                        <a:lumOff val="40000"/>
                      </a:srgbClr>
                    </a:gs>
                    <a:gs pos="60000">
                      <a:srgbClr val="8958EE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01000" y="3104974"/>
            <a:ext cx="502234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Media Format Impact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1">
            <a:off x="800997" y="3459294"/>
            <a:ext cx="5022340" cy="34509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Purchases of MP3 format have 20% higher margin than streaming.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320" y="3049529"/>
            <a:ext cx="639919" cy="584775"/>
          </a:xfrm>
          <a:prstGeom prst="rect">
            <a:avLst/>
          </a:prstGeom>
          <a:noFill/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3200" b="1" i="1" u="none" baseline="0">
                <a:gradFill>
                  <a:gsLst>
                    <a:gs pos="0">
                      <a:srgbClr val="CE64EE">
                        <a:lumMod val="60000"/>
                        <a:lumOff val="40000"/>
                      </a:srgbClr>
                    </a:gs>
                    <a:gs pos="60000">
                      <a:srgbClr val="CE64EE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5" name="AutoShape 15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Insights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6CDA701-CE4B-64C3-6C06-28E67A01352F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381000" y="228600"/>
            <a:ext cx="4654552" cy="6281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800" dirty="0">
                <a:latin typeface="Eras Bold ITC" panose="020B0907030504020204" pitchFamily="34" charset="0"/>
              </a:rPr>
              <a:t>Geographic &amp; Employee Insights 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DDAD5-DC43-2DCD-CF99-283811436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0201" y="1066800"/>
            <a:ext cx="9434509" cy="54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96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Advanced DAX Measures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09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800000">
            <a:off x="4110620" y="1017579"/>
            <a:ext cx="4221480" cy="3639208"/>
          </a:xfrm>
          <a:prstGeom prst="triangle">
            <a:avLst/>
          </a:prstGeom>
          <a:solidFill>
            <a:schemeClr val="bg1"/>
          </a:solidFill>
          <a:ln w="266700">
            <a:gradFill>
              <a:gsLst>
                <a:gs pos="0">
                  <a:schemeClr val="bg1">
                    <a:lumMod val="95000"/>
                  </a:schemeClr>
                </a:gs>
                <a:gs pos="93000">
                  <a:schemeClr val="bg1">
                    <a:alpha val="0"/>
                    <a:lumMod val="95000"/>
                  </a:schemeClr>
                </a:gs>
              </a:gsLst>
              <a:lin ang="5400000"/>
            </a:gradFill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>
            <a:off x="5193801" y="1951356"/>
            <a:ext cx="2055118" cy="1771654"/>
          </a:xfrm>
          <a:prstGeom prst="triangle">
            <a:avLst/>
          </a:prstGeom>
          <a:gradFill flip="none" rotWithShape="1">
            <a:gsLst>
              <a:gs pos="12000">
                <a:srgbClr val="147DF3">
                  <a:lumMod val="100000"/>
                </a:srgbClr>
              </a:gs>
              <a:gs pos="100000">
                <a:srgbClr val="4D00A4">
                  <a:lumMod val="100000"/>
                </a:srgbClr>
              </a:gs>
            </a:gsLst>
            <a:lin ang="13500000"/>
            <a:tileRect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20759" y="3330080"/>
            <a:ext cx="4267181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Tracks Sold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220760" y="3778678"/>
            <a:ext cx="4267179" cy="10981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r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`Tracks Sold = SUM(invoice_line[quantity])`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012091" y="3778678"/>
            <a:ext cx="3896133" cy="10981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`Avg Purchases = DIVIDE([Total Invoices], [Total Customers])`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012092" y="3330080"/>
            <a:ext cx="388589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Avg Purchases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3669420" y="5643355"/>
            <a:ext cx="5107393" cy="617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ctr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Music Revenue = SUMX(
invoice_line,
invoice_line[unit_price]  invoice_line[quantity]
)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3669421" y="5410200"/>
            <a:ext cx="5107392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Music Revenue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316498" y="1515398"/>
            <a:ext cx="3087772" cy="10981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r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`Total Revenue = SUM(invoice[total])`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316498" y="1066800"/>
            <a:ext cx="3087772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Total Revenue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071102" y="1515398"/>
            <a:ext cx="2837123" cy="10981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200" b="0" i="0" u="none" baseline="0">
                <a:ln/>
                <a:solidFill>
                  <a:srgbClr val="000000"/>
                </a:solidFill>
                <a:effectLst/>
                <a:latin typeface="+mn-ea"/>
                <a:ea typeface="+mn-ea"/>
              </a:rPr>
              <a:t>`CLV = AVERAGEX(customer, [Total Revenue per Customer])`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9071101" y="1066800"/>
            <a:ext cx="2837123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Customer Lifetime Value (CLV)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 flipV="1">
            <a:off x="5193801" y="1760139"/>
            <a:ext cx="2055118" cy="191216"/>
          </a:xfrm>
          <a:prstGeom prst="triangle">
            <a:avLst/>
          </a:prstGeom>
          <a:gradFill flip="none" rotWithShape="1">
            <a:gsLst>
              <a:gs pos="0">
                <a:srgbClr val="4D00A4">
                  <a:lumMod val="20000"/>
                  <a:lumOff val="80000"/>
                </a:srgbClr>
              </a:gs>
              <a:gs pos="100000">
                <a:srgbClr val="147DF3">
                  <a:lumMod val="26000"/>
                  <a:lumOff val="74000"/>
                </a:srgbClr>
              </a:gs>
            </a:gsLst>
            <a:lin ang="18900000"/>
            <a:tileRect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923933" y="4691068"/>
            <a:ext cx="594852" cy="594852"/>
          </a:xfrm>
          <a:prstGeom prst="ellipse">
            <a:avLst/>
          </a:prstGeom>
          <a:gradFill>
            <a:gsLst>
              <a:gs pos="0">
                <a:srgbClr val="147DF3">
                  <a:lumMod val="38000"/>
                  <a:lumOff val="62000"/>
                </a:srgbClr>
              </a:gs>
              <a:gs pos="29000">
                <a:srgbClr val="147DF3"/>
              </a:gs>
              <a:gs pos="95000">
                <a:srgbClr val="4D00A4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419100" dist="215900" dir="5400000" sx="85000" sy="85000" algn="t" rotWithShape="0">
              <a:srgbClr val="147DF3">
                <a:alpha val="40000"/>
              </a:srgbClr>
            </a:outerShdw>
          </a:effectLst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503297" y="1481125"/>
            <a:ext cx="594852" cy="594852"/>
          </a:xfrm>
          <a:prstGeom prst="ellipse">
            <a:avLst/>
          </a:prstGeom>
          <a:gradFill>
            <a:gsLst>
              <a:gs pos="0">
                <a:srgbClr val="147DF3">
                  <a:lumMod val="38000"/>
                  <a:lumOff val="62000"/>
                </a:srgbClr>
              </a:gs>
              <a:gs pos="29000">
                <a:srgbClr val="147DF3"/>
              </a:gs>
              <a:gs pos="95000">
                <a:srgbClr val="4D00A4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419100" dist="215900" dir="5400000" sx="85000" sy="85000" algn="t" rotWithShape="0">
              <a:srgbClr val="147DF3">
                <a:alpha val="40000"/>
              </a:srgbClr>
            </a:outerShdw>
          </a:effectLst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44572" y="1481125"/>
            <a:ext cx="594852" cy="594852"/>
          </a:xfrm>
          <a:prstGeom prst="ellipse">
            <a:avLst/>
          </a:prstGeom>
          <a:gradFill>
            <a:gsLst>
              <a:gs pos="0">
                <a:srgbClr val="147DF3">
                  <a:lumMod val="38000"/>
                  <a:lumOff val="62000"/>
                </a:srgbClr>
              </a:gs>
              <a:gs pos="29000">
                <a:srgbClr val="147DF3"/>
              </a:gs>
              <a:gs pos="95000">
                <a:srgbClr val="4D00A4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419100" dist="215900" dir="5400000" sx="85000" sy="85000" algn="t" rotWithShape="0">
              <a:srgbClr val="147DF3">
                <a:alpha val="40000"/>
              </a:srgbClr>
            </a:outerShdw>
          </a:effectLst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288338" y="3304525"/>
            <a:ext cx="594852" cy="594852"/>
          </a:xfrm>
          <a:prstGeom prst="ellipse">
            <a:avLst/>
          </a:prstGeom>
          <a:gradFill>
            <a:gsLst>
              <a:gs pos="0">
                <a:srgbClr val="147DF3">
                  <a:lumMod val="38000"/>
                  <a:lumOff val="62000"/>
                </a:srgbClr>
              </a:gs>
              <a:gs pos="29000">
                <a:srgbClr val="147DF3"/>
              </a:gs>
              <a:gs pos="95000">
                <a:srgbClr val="4D00A4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419100" dist="215900" dir="5400000" sx="85000" sy="85000" algn="t" rotWithShape="0">
              <a:srgbClr val="147DF3">
                <a:alpha val="40000"/>
              </a:srgbClr>
            </a:outerShdw>
          </a:effectLst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559531" y="3304525"/>
            <a:ext cx="594852" cy="594852"/>
          </a:xfrm>
          <a:prstGeom prst="ellipse">
            <a:avLst/>
          </a:prstGeom>
          <a:gradFill>
            <a:gsLst>
              <a:gs pos="0">
                <a:srgbClr val="147DF3">
                  <a:lumMod val="38000"/>
                  <a:lumOff val="62000"/>
                </a:srgbClr>
              </a:gs>
              <a:gs pos="29000">
                <a:srgbClr val="147DF3"/>
              </a:gs>
              <a:gs pos="95000">
                <a:srgbClr val="4D00A4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419100" dist="215900" dir="5400000" sx="85000" sy="85000" algn="t" rotWithShape="0">
              <a:srgbClr val="147DF3">
                <a:alpha val="40000"/>
              </a:srgbClr>
            </a:outerShdw>
          </a:effectLst>
        </p:spPr>
        <p:txBody>
          <a:bodyPr vert="horz" lIns="91440" tIns="45720" rIns="91440" bIns="45720" anchor="ctr"/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DAX Formulas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37201" y="1585452"/>
            <a:ext cx="534135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chemeClr val="bg1"/>
                </a:solidFill>
                <a:latin typeface="微软雅黑"/>
                <a:ea typeface="微软雅黑"/>
              </a:rPr>
              <a:t>1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710974" y="3430370"/>
            <a:ext cx="534135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chemeClr val="bg1"/>
                </a:solidFill>
                <a:latin typeface="微软雅黑"/>
                <a:ea typeface="微软雅黑"/>
              </a:rPr>
              <a:t>2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072925" y="4803828"/>
            <a:ext cx="534135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chemeClr val="bg1"/>
                </a:solidFill>
                <a:latin typeface="微软雅黑"/>
                <a:ea typeface="微软雅黑"/>
              </a:rPr>
              <a:t>3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424922" y="3417285"/>
            <a:ext cx="534135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chemeClr val="bg1"/>
                </a:solidFill>
                <a:latin typeface="微软雅黑"/>
                <a:ea typeface="微软雅黑"/>
              </a:rPr>
              <a:t>4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494861" y="1585452"/>
            <a:ext cx="534135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chemeClr val="bg1"/>
                </a:solidFill>
                <a:latin typeface="微软雅黑"/>
                <a:ea typeface="微软雅黑"/>
              </a:rPr>
              <a:t>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Key Business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10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" y="3258000"/>
            <a:ext cx="12191996" cy="3600001"/>
          </a:xfrm>
          <a:custGeom>
            <a:avLst/>
            <a:gdLst/>
            <a:ahLst/>
            <a:cxnLst/>
            <a:rect l="l" t="t" r="r" b="b"/>
            <a:pathLst>
              <a:path w="12191996" h="3600000">
                <a:moveTo>
                  <a:pt x="2007589" y="2820682"/>
                </a:moveTo>
                <a:lnTo>
                  <a:pt x="2154062" y="2820682"/>
                </a:lnTo>
                <a:lnTo>
                  <a:pt x="2154062" y="3600000"/>
                </a:lnTo>
                <a:lnTo>
                  <a:pt x="2007589" y="3600000"/>
                </a:lnTo>
                <a:close/>
                <a:moveTo>
                  <a:pt x="0" y="2820682"/>
                </a:moveTo>
                <a:lnTo>
                  <a:pt x="146474" y="2820682"/>
                </a:lnTo>
                <a:lnTo>
                  <a:pt x="146474" y="3600000"/>
                </a:lnTo>
                <a:lnTo>
                  <a:pt x="0" y="3600000"/>
                </a:lnTo>
                <a:close/>
                <a:moveTo>
                  <a:pt x="1433992" y="2664818"/>
                </a:moveTo>
                <a:lnTo>
                  <a:pt x="1580466" y="2664818"/>
                </a:lnTo>
                <a:lnTo>
                  <a:pt x="1580466" y="3600000"/>
                </a:lnTo>
                <a:lnTo>
                  <a:pt x="1433992" y="3600000"/>
                </a:lnTo>
                <a:close/>
                <a:moveTo>
                  <a:pt x="4875570" y="2586886"/>
                </a:moveTo>
                <a:lnTo>
                  <a:pt x="5022045" y="2586886"/>
                </a:lnTo>
                <a:lnTo>
                  <a:pt x="5022045" y="3600000"/>
                </a:lnTo>
                <a:lnTo>
                  <a:pt x="4875570" y="3600000"/>
                </a:lnTo>
                <a:close/>
                <a:moveTo>
                  <a:pt x="2867985" y="2586886"/>
                </a:moveTo>
                <a:lnTo>
                  <a:pt x="3014458" y="2586886"/>
                </a:lnTo>
                <a:lnTo>
                  <a:pt x="3014458" y="3600000"/>
                </a:lnTo>
                <a:lnTo>
                  <a:pt x="2867985" y="3600000"/>
                </a:lnTo>
                <a:close/>
                <a:moveTo>
                  <a:pt x="2581185" y="2477782"/>
                </a:moveTo>
                <a:lnTo>
                  <a:pt x="2727660" y="2477782"/>
                </a:lnTo>
                <a:lnTo>
                  <a:pt x="2727660" y="3600000"/>
                </a:lnTo>
                <a:lnTo>
                  <a:pt x="2581185" y="3600000"/>
                </a:lnTo>
                <a:close/>
                <a:moveTo>
                  <a:pt x="1147194" y="2477782"/>
                </a:moveTo>
                <a:lnTo>
                  <a:pt x="1293668" y="2477782"/>
                </a:lnTo>
                <a:lnTo>
                  <a:pt x="1293668" y="3600000"/>
                </a:lnTo>
                <a:lnTo>
                  <a:pt x="1147194" y="3600000"/>
                </a:lnTo>
                <a:close/>
                <a:moveTo>
                  <a:pt x="286798" y="2477782"/>
                </a:moveTo>
                <a:lnTo>
                  <a:pt x="433272" y="2477782"/>
                </a:lnTo>
                <a:lnTo>
                  <a:pt x="433272" y="3600000"/>
                </a:lnTo>
                <a:lnTo>
                  <a:pt x="286798" y="3600000"/>
                </a:lnTo>
                <a:close/>
                <a:moveTo>
                  <a:pt x="4301973" y="2384264"/>
                </a:moveTo>
                <a:lnTo>
                  <a:pt x="4448447" y="2384264"/>
                </a:lnTo>
                <a:lnTo>
                  <a:pt x="4448447" y="3600001"/>
                </a:lnTo>
                <a:lnTo>
                  <a:pt x="4301973" y="3600001"/>
                </a:lnTo>
                <a:close/>
                <a:moveTo>
                  <a:pt x="1720791" y="2353091"/>
                </a:moveTo>
                <a:lnTo>
                  <a:pt x="1867265" y="2353091"/>
                </a:lnTo>
                <a:lnTo>
                  <a:pt x="1867265" y="3600000"/>
                </a:lnTo>
                <a:lnTo>
                  <a:pt x="1720791" y="3600000"/>
                </a:lnTo>
                <a:close/>
                <a:moveTo>
                  <a:pt x="7743555" y="2275159"/>
                </a:moveTo>
                <a:lnTo>
                  <a:pt x="7890029" y="2275159"/>
                </a:lnTo>
                <a:lnTo>
                  <a:pt x="7890029" y="3600000"/>
                </a:lnTo>
                <a:lnTo>
                  <a:pt x="7743555" y="3600000"/>
                </a:lnTo>
                <a:close/>
                <a:moveTo>
                  <a:pt x="5735966" y="2275159"/>
                </a:moveTo>
                <a:lnTo>
                  <a:pt x="5882439" y="2275159"/>
                </a:lnTo>
                <a:lnTo>
                  <a:pt x="5882439" y="3600000"/>
                </a:lnTo>
                <a:lnTo>
                  <a:pt x="5735966" y="3600000"/>
                </a:lnTo>
                <a:close/>
                <a:moveTo>
                  <a:pt x="2294388" y="2197227"/>
                </a:moveTo>
                <a:lnTo>
                  <a:pt x="2440862" y="2197227"/>
                </a:lnTo>
                <a:lnTo>
                  <a:pt x="2440862" y="3600000"/>
                </a:lnTo>
                <a:lnTo>
                  <a:pt x="2294388" y="3600000"/>
                </a:lnTo>
                <a:close/>
                <a:moveTo>
                  <a:pt x="860395" y="2197227"/>
                </a:moveTo>
                <a:lnTo>
                  <a:pt x="1006869" y="2197227"/>
                </a:lnTo>
                <a:lnTo>
                  <a:pt x="1006869" y="3600000"/>
                </a:lnTo>
                <a:lnTo>
                  <a:pt x="860395" y="3600000"/>
                </a:lnTo>
                <a:close/>
                <a:moveTo>
                  <a:pt x="5449168" y="2141116"/>
                </a:moveTo>
                <a:lnTo>
                  <a:pt x="5595641" y="2141116"/>
                </a:lnTo>
                <a:lnTo>
                  <a:pt x="5595641" y="3600000"/>
                </a:lnTo>
                <a:lnTo>
                  <a:pt x="5449168" y="3600000"/>
                </a:lnTo>
                <a:close/>
                <a:moveTo>
                  <a:pt x="4015178" y="2141116"/>
                </a:moveTo>
                <a:lnTo>
                  <a:pt x="4161652" y="2141116"/>
                </a:lnTo>
                <a:lnTo>
                  <a:pt x="4161652" y="3600000"/>
                </a:lnTo>
                <a:lnTo>
                  <a:pt x="4015178" y="3600000"/>
                </a:lnTo>
                <a:close/>
                <a:moveTo>
                  <a:pt x="3154782" y="2141116"/>
                </a:moveTo>
                <a:lnTo>
                  <a:pt x="3301256" y="2141116"/>
                </a:lnTo>
                <a:lnTo>
                  <a:pt x="3301256" y="3600000"/>
                </a:lnTo>
                <a:lnTo>
                  <a:pt x="3154782" y="3600000"/>
                </a:lnTo>
                <a:close/>
                <a:moveTo>
                  <a:pt x="8603950" y="2119295"/>
                </a:moveTo>
                <a:lnTo>
                  <a:pt x="8750424" y="2119295"/>
                </a:lnTo>
                <a:lnTo>
                  <a:pt x="8750424" y="3600000"/>
                </a:lnTo>
                <a:lnTo>
                  <a:pt x="8603950" y="3600000"/>
                </a:lnTo>
                <a:close/>
                <a:moveTo>
                  <a:pt x="573597" y="2041364"/>
                </a:moveTo>
                <a:lnTo>
                  <a:pt x="720071" y="2041364"/>
                </a:lnTo>
                <a:lnTo>
                  <a:pt x="720071" y="3600001"/>
                </a:lnTo>
                <a:lnTo>
                  <a:pt x="573597" y="3600001"/>
                </a:lnTo>
                <a:close/>
                <a:moveTo>
                  <a:pt x="7169958" y="2010191"/>
                </a:moveTo>
                <a:lnTo>
                  <a:pt x="7316432" y="2010191"/>
                </a:lnTo>
                <a:lnTo>
                  <a:pt x="7316432" y="3600000"/>
                </a:lnTo>
                <a:lnTo>
                  <a:pt x="7169958" y="3600000"/>
                </a:lnTo>
                <a:close/>
                <a:moveTo>
                  <a:pt x="4588771" y="1979018"/>
                </a:moveTo>
                <a:lnTo>
                  <a:pt x="4735245" y="1979018"/>
                </a:lnTo>
                <a:lnTo>
                  <a:pt x="4735245" y="3600000"/>
                </a:lnTo>
                <a:lnTo>
                  <a:pt x="4588771" y="3600000"/>
                </a:lnTo>
                <a:close/>
                <a:moveTo>
                  <a:pt x="10037942" y="1823155"/>
                </a:moveTo>
                <a:lnTo>
                  <a:pt x="10184416" y="1823155"/>
                </a:lnTo>
                <a:lnTo>
                  <a:pt x="10184416" y="3600001"/>
                </a:lnTo>
                <a:lnTo>
                  <a:pt x="10037942" y="3600001"/>
                </a:lnTo>
                <a:close/>
                <a:moveTo>
                  <a:pt x="10611539" y="1800001"/>
                </a:moveTo>
                <a:lnTo>
                  <a:pt x="10758013" y="1800001"/>
                </a:lnTo>
                <a:lnTo>
                  <a:pt x="10758013" y="3600001"/>
                </a:lnTo>
                <a:lnTo>
                  <a:pt x="10611539" y="3600001"/>
                </a:lnTo>
                <a:close/>
                <a:moveTo>
                  <a:pt x="5162368" y="1776395"/>
                </a:moveTo>
                <a:lnTo>
                  <a:pt x="5308842" y="1776395"/>
                </a:lnTo>
                <a:lnTo>
                  <a:pt x="5308842" y="3600000"/>
                </a:lnTo>
                <a:lnTo>
                  <a:pt x="5162368" y="3600000"/>
                </a:lnTo>
                <a:close/>
                <a:moveTo>
                  <a:pt x="3728379" y="1776395"/>
                </a:moveTo>
                <a:lnTo>
                  <a:pt x="3874853" y="1776395"/>
                </a:lnTo>
                <a:lnTo>
                  <a:pt x="3874853" y="3600000"/>
                </a:lnTo>
                <a:lnTo>
                  <a:pt x="3728379" y="3600000"/>
                </a:lnTo>
                <a:close/>
                <a:moveTo>
                  <a:pt x="8317151" y="1692229"/>
                </a:moveTo>
                <a:lnTo>
                  <a:pt x="8463625" y="1692229"/>
                </a:lnTo>
                <a:lnTo>
                  <a:pt x="8463625" y="3600000"/>
                </a:lnTo>
                <a:lnTo>
                  <a:pt x="8317151" y="3600000"/>
                </a:lnTo>
                <a:close/>
                <a:moveTo>
                  <a:pt x="6883159" y="1692229"/>
                </a:moveTo>
                <a:lnTo>
                  <a:pt x="7029633" y="1692229"/>
                </a:lnTo>
                <a:lnTo>
                  <a:pt x="7029633" y="3600000"/>
                </a:lnTo>
                <a:lnTo>
                  <a:pt x="6883159" y="3600000"/>
                </a:lnTo>
                <a:close/>
                <a:moveTo>
                  <a:pt x="6022764" y="1692229"/>
                </a:moveTo>
                <a:lnTo>
                  <a:pt x="6169238" y="1692229"/>
                </a:lnTo>
                <a:lnTo>
                  <a:pt x="6169238" y="3600000"/>
                </a:lnTo>
                <a:lnTo>
                  <a:pt x="6022764" y="3600000"/>
                </a:lnTo>
                <a:close/>
                <a:moveTo>
                  <a:pt x="3441581" y="1573773"/>
                </a:moveTo>
                <a:lnTo>
                  <a:pt x="3588056" y="1573773"/>
                </a:lnTo>
                <a:lnTo>
                  <a:pt x="3588056" y="3600001"/>
                </a:lnTo>
                <a:lnTo>
                  <a:pt x="3441581" y="3600001"/>
                </a:lnTo>
                <a:close/>
                <a:moveTo>
                  <a:pt x="7456756" y="1480254"/>
                </a:moveTo>
                <a:lnTo>
                  <a:pt x="7603230" y="1480254"/>
                </a:lnTo>
                <a:lnTo>
                  <a:pt x="7603230" y="3600000"/>
                </a:lnTo>
                <a:lnTo>
                  <a:pt x="7456756" y="3600000"/>
                </a:lnTo>
                <a:close/>
                <a:moveTo>
                  <a:pt x="9751144" y="1467786"/>
                </a:moveTo>
                <a:lnTo>
                  <a:pt x="9897618" y="1467786"/>
                </a:lnTo>
                <a:lnTo>
                  <a:pt x="9897618" y="3600001"/>
                </a:lnTo>
                <a:lnTo>
                  <a:pt x="9751144" y="3600001"/>
                </a:lnTo>
                <a:close/>
                <a:moveTo>
                  <a:pt x="8890748" y="1467785"/>
                </a:moveTo>
                <a:lnTo>
                  <a:pt x="9037222" y="1467785"/>
                </a:lnTo>
                <a:lnTo>
                  <a:pt x="9037222" y="3600000"/>
                </a:lnTo>
                <a:lnTo>
                  <a:pt x="8890748" y="3600000"/>
                </a:lnTo>
                <a:close/>
                <a:moveTo>
                  <a:pt x="6596361" y="1296000"/>
                </a:moveTo>
                <a:lnTo>
                  <a:pt x="6742835" y="1296000"/>
                </a:lnTo>
                <a:lnTo>
                  <a:pt x="6742835" y="3600000"/>
                </a:lnTo>
                <a:lnTo>
                  <a:pt x="6596361" y="3600000"/>
                </a:lnTo>
                <a:close/>
                <a:moveTo>
                  <a:pt x="10324741" y="1230873"/>
                </a:moveTo>
                <a:lnTo>
                  <a:pt x="10471215" y="1230873"/>
                </a:lnTo>
                <a:lnTo>
                  <a:pt x="10471215" y="3600001"/>
                </a:lnTo>
                <a:lnTo>
                  <a:pt x="10324741" y="3600001"/>
                </a:lnTo>
                <a:close/>
                <a:moveTo>
                  <a:pt x="8030353" y="1215286"/>
                </a:moveTo>
                <a:lnTo>
                  <a:pt x="8176827" y="1215286"/>
                </a:lnTo>
                <a:lnTo>
                  <a:pt x="8176827" y="3600000"/>
                </a:lnTo>
                <a:lnTo>
                  <a:pt x="8030353" y="3600000"/>
                </a:lnTo>
                <a:close/>
                <a:moveTo>
                  <a:pt x="11185136" y="1080001"/>
                </a:moveTo>
                <a:lnTo>
                  <a:pt x="11331610" y="1080001"/>
                </a:lnTo>
                <a:lnTo>
                  <a:pt x="11331610" y="3600001"/>
                </a:lnTo>
                <a:lnTo>
                  <a:pt x="11185136" y="3600001"/>
                </a:lnTo>
                <a:close/>
                <a:moveTo>
                  <a:pt x="6309562" y="1080000"/>
                </a:moveTo>
                <a:lnTo>
                  <a:pt x="6456036" y="1080000"/>
                </a:lnTo>
                <a:lnTo>
                  <a:pt x="6456036" y="3600000"/>
                </a:lnTo>
                <a:lnTo>
                  <a:pt x="6309562" y="3600000"/>
                </a:lnTo>
                <a:close/>
                <a:moveTo>
                  <a:pt x="10898338" y="934732"/>
                </a:moveTo>
                <a:lnTo>
                  <a:pt x="11044812" y="934732"/>
                </a:lnTo>
                <a:lnTo>
                  <a:pt x="11044812" y="3600000"/>
                </a:lnTo>
                <a:lnTo>
                  <a:pt x="10898338" y="3600000"/>
                </a:lnTo>
                <a:close/>
                <a:moveTo>
                  <a:pt x="9464345" y="934732"/>
                </a:moveTo>
                <a:lnTo>
                  <a:pt x="9610819" y="934732"/>
                </a:lnTo>
                <a:lnTo>
                  <a:pt x="9610819" y="3600000"/>
                </a:lnTo>
                <a:lnTo>
                  <a:pt x="9464345" y="3600000"/>
                </a:lnTo>
                <a:close/>
                <a:moveTo>
                  <a:pt x="9177547" y="638591"/>
                </a:moveTo>
                <a:lnTo>
                  <a:pt x="9324021" y="638591"/>
                </a:lnTo>
                <a:lnTo>
                  <a:pt x="9324021" y="3600000"/>
                </a:lnTo>
                <a:lnTo>
                  <a:pt x="9177547" y="3600000"/>
                </a:lnTo>
                <a:close/>
                <a:moveTo>
                  <a:pt x="11471935" y="576001"/>
                </a:moveTo>
                <a:lnTo>
                  <a:pt x="11618409" y="576001"/>
                </a:lnTo>
                <a:lnTo>
                  <a:pt x="11618409" y="3600001"/>
                </a:lnTo>
                <a:lnTo>
                  <a:pt x="11471935" y="3600001"/>
                </a:lnTo>
                <a:close/>
                <a:moveTo>
                  <a:pt x="12045522" y="360000"/>
                </a:moveTo>
                <a:lnTo>
                  <a:pt x="12191996" y="360000"/>
                </a:lnTo>
                <a:lnTo>
                  <a:pt x="12191996" y="3600000"/>
                </a:lnTo>
                <a:lnTo>
                  <a:pt x="12045522" y="3600000"/>
                </a:lnTo>
                <a:close/>
                <a:moveTo>
                  <a:pt x="11758733" y="0"/>
                </a:moveTo>
                <a:lnTo>
                  <a:pt x="11905207" y="0"/>
                </a:lnTo>
                <a:lnTo>
                  <a:pt x="11905207" y="3600000"/>
                </a:lnTo>
                <a:lnTo>
                  <a:pt x="11758733" y="3600000"/>
                </a:lnTo>
                <a:close/>
              </a:path>
            </a:pathLst>
          </a:custGeom>
          <a:gradFill>
            <a:gsLst>
              <a:gs pos="0">
                <a:srgbClr val="7ECEF4">
                  <a:alpha val="0"/>
                  <a:lumMod val="60000"/>
                  <a:lumOff val="40000"/>
                </a:srgbClr>
              </a:gs>
              <a:gs pos="80000">
                <a:srgbClr val="7ECEF4">
                  <a:alpha val="10000"/>
                </a:srgbClr>
              </a:gs>
            </a:gsLst>
            <a:lin ang="162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60400" y="1368639"/>
            <a:ext cx="10974858" cy="3079483"/>
          </a:xfrm>
          <a:custGeom>
            <a:avLst/>
            <a:gdLst/>
            <a:ahLst/>
            <a:cxnLst/>
            <a:rect l="l" t="t" r="r" b="b"/>
            <a:pathLst>
              <a:path w="12194350" h="3538816">
                <a:moveTo>
                  <a:pt x="12194350" y="0"/>
                </a:moveTo>
                <a:lnTo>
                  <a:pt x="11743461" y="880964"/>
                </a:lnTo>
                <a:lnTo>
                  <a:pt x="11594168" y="693302"/>
                </a:lnTo>
                <a:lnTo>
                  <a:pt x="11511865" y="745950"/>
                </a:lnTo>
                <a:cubicBezTo>
                  <a:pt x="10861162" y="1155209"/>
                  <a:pt x="9284367" y="2058445"/>
                  <a:pt x="7081249" y="2736180"/>
                </a:cubicBezTo>
                <a:cubicBezTo>
                  <a:pt x="4066305" y="3663685"/>
                  <a:pt x="0" y="3532429"/>
                  <a:pt x="0" y="3532429"/>
                </a:cubicBezTo>
                <a:cubicBezTo>
                  <a:pt x="1493745" y="3470120"/>
                  <a:pt x="4513461" y="3376692"/>
                  <a:pt x="7039964" y="2550361"/>
                </a:cubicBezTo>
                <a:cubicBezTo>
                  <a:pt x="9244275" y="1829421"/>
                  <a:pt x="10729604" y="913051"/>
                  <a:pt x="11334499" y="499924"/>
                </a:cubicBezTo>
                <a:lnTo>
                  <a:pt x="11402620" y="452526"/>
                </a:lnTo>
                <a:lnTo>
                  <a:pt x="11234620" y="241350"/>
                </a:lnTo>
                <a:close/>
              </a:path>
            </a:pathLst>
          </a:custGeom>
          <a:gradFill>
            <a:gsLst>
              <a:gs pos="0">
                <a:srgbClr val="7ECEF4">
                  <a:alpha val="70000"/>
                  <a:lumMod val="40000"/>
                  <a:lumOff val="60000"/>
                </a:srgbClr>
              </a:gs>
              <a:gs pos="60000">
                <a:srgbClr val="7ECEF4">
                  <a:lumMod val="80000"/>
                  <a:lumOff val="20000"/>
                </a:srgbClr>
              </a:gs>
            </a:gsLst>
            <a:lin ang="18900000"/>
          </a:gradFill>
          <a:ln cap="rnd">
            <a:noFill/>
            <a:prstDash val="solid"/>
          </a:ln>
          <a:effectLst>
            <a:outerShdw blurRad="254000" dist="1905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l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30908" y="1766858"/>
            <a:ext cx="351659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Genre Revenue Leader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30908" y="2260615"/>
            <a:ext cx="3516590" cy="172169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Rock genre contributes the highest revenue across all regions.</a:t>
            </a:r>
          </a:p>
        </p:txBody>
      </p:sp>
      <p:sp>
        <p:nvSpPr>
          <p:cNvPr id="6" name="AutoShape 6"/>
          <p:cNvSpPr/>
          <p:nvPr/>
        </p:nvSpPr>
        <p:spPr>
          <a:xfrm>
            <a:off x="788464" y="4016275"/>
            <a:ext cx="792002" cy="792000"/>
          </a:xfrm>
          <a:prstGeom prst="ellipse">
            <a:avLst/>
          </a:prstGeom>
          <a:gradFill>
            <a:gsLst>
              <a:gs pos="0">
                <a:srgbClr val="7ECEF4">
                  <a:lumMod val="60000"/>
                  <a:lumOff val="40000"/>
                </a:srgbClr>
              </a:gs>
              <a:gs pos="60000">
                <a:srgbClr val="7ECEF4"/>
              </a:gs>
            </a:gsLst>
            <a:lin ang="2700000"/>
          </a:gradFill>
          <a:ln cap="rnd">
            <a:noFill/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rmAutofit/>
          </a:bodyPr>
          <a:lstStyle/>
          <a:p>
            <a:pPr marL="0" algn="ctr"/>
            <a:r>
              <a:rPr lang="en-US" sz="22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7108" y="4826964"/>
            <a:ext cx="3918891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Strongest Market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77108" y="5320721"/>
            <a:ext cx="3918891" cy="144469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USA accounts for 45% of global sales.</a:t>
            </a:r>
          </a:p>
        </p:txBody>
      </p:sp>
      <p:sp>
        <p:nvSpPr>
          <p:cNvPr id="9" name="AutoShape 9"/>
          <p:cNvSpPr/>
          <p:nvPr/>
        </p:nvSpPr>
        <p:spPr>
          <a:xfrm>
            <a:off x="2957435" y="3958353"/>
            <a:ext cx="792002" cy="792000"/>
          </a:xfrm>
          <a:prstGeom prst="ellipse">
            <a:avLst/>
          </a:prstGeom>
          <a:gradFill>
            <a:gsLst>
              <a:gs pos="0">
                <a:srgbClr val="7ECEF4">
                  <a:lumMod val="60000"/>
                  <a:lumOff val="40000"/>
                </a:srgbClr>
              </a:gs>
              <a:gs pos="60000">
                <a:srgbClr val="7ECEF4"/>
              </a:gs>
            </a:gsLst>
            <a:lin ang="2700000"/>
          </a:gradFill>
          <a:ln cap="rnd">
            <a:noFill/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rmAutofit/>
          </a:bodyPr>
          <a:lstStyle/>
          <a:p>
            <a:pPr marL="0" algn="ctr"/>
            <a:r>
              <a:rPr lang="en-US" sz="22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66405" y="1238274"/>
            <a:ext cx="3038375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Repeat Customers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66405" y="1732031"/>
            <a:ext cx="3038375" cy="199868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Repeat buyers generate 70% of total revenue.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126406" y="3653669"/>
            <a:ext cx="792002" cy="792000"/>
          </a:xfrm>
          <a:prstGeom prst="ellipse">
            <a:avLst/>
          </a:prstGeom>
          <a:gradFill>
            <a:gsLst>
              <a:gs pos="0">
                <a:srgbClr val="7ECEF4">
                  <a:lumMod val="60000"/>
                  <a:lumOff val="40000"/>
                </a:srgbClr>
              </a:gs>
              <a:gs pos="60000">
                <a:srgbClr val="7ECEF4"/>
              </a:gs>
            </a:gsLst>
            <a:lin ang="2700000"/>
          </a:gradFill>
          <a:ln cap="rnd">
            <a:noFill/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rmAutofit/>
          </a:bodyPr>
          <a:lstStyle/>
          <a:p>
            <a:pPr marL="0" algn="ctr"/>
            <a:r>
              <a:rPr lang="en-US" sz="22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4015" y="3889197"/>
            <a:ext cx="4209521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Playlist Engagement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94015" y="4382954"/>
            <a:ext cx="4209521" cy="144469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Well-structured playlists increase track purchase likelihood by 2x.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295377" y="3070181"/>
            <a:ext cx="792002" cy="792000"/>
          </a:xfrm>
          <a:prstGeom prst="ellipse">
            <a:avLst/>
          </a:prstGeom>
          <a:gradFill>
            <a:gsLst>
              <a:gs pos="0">
                <a:srgbClr val="7ECEF4">
                  <a:lumMod val="60000"/>
                  <a:lumOff val="40000"/>
                </a:srgbClr>
              </a:gs>
              <a:gs pos="60000">
                <a:srgbClr val="7ECEF4"/>
              </a:gs>
            </a:gsLst>
            <a:lin ang="2700000"/>
          </a:gradFill>
          <a:ln cap="rnd">
            <a:noFill/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rmAutofit/>
          </a:bodyPr>
          <a:lstStyle/>
          <a:p>
            <a:pPr marL="0" algn="ctr"/>
            <a:r>
              <a:rPr lang="en-US" sz="22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04781" y="914400"/>
            <a:ext cx="335157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Revenue Concentration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4349" y="2188396"/>
            <a:ext cx="792002" cy="792000"/>
          </a:xfrm>
          <a:prstGeom prst="ellipse">
            <a:avLst/>
          </a:prstGeom>
          <a:gradFill>
            <a:gsLst>
              <a:gs pos="0">
                <a:srgbClr val="7ECEF4">
                  <a:lumMod val="60000"/>
                  <a:lumOff val="40000"/>
                </a:srgbClr>
              </a:gs>
              <a:gs pos="60000">
                <a:srgbClr val="7ECEF4"/>
              </a:gs>
            </a:gsLst>
            <a:lin ang="2700000"/>
          </a:gradFill>
          <a:ln cap="rnd">
            <a:noFill/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rmAutofit/>
          </a:bodyPr>
          <a:lstStyle/>
          <a:p>
            <a:pPr marL="0" algn="ctr"/>
            <a:r>
              <a:rPr lang="en-US" sz="22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Strategic Findings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04781" y="1408157"/>
            <a:ext cx="3351570" cy="172169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Top 5% of customers generate 25% of total revenue.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2685253" y="3362825"/>
            <a:ext cx="7431206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5826" y="2349553"/>
            <a:ext cx="2475505" cy="9233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5400" b="1" i="0" u="none" baseline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11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8958EE">
                <a:alpha val="7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93899" y="3073454"/>
            <a:ext cx="8216901" cy="3263846"/>
          </a:xfrm>
          <a:custGeom>
            <a:avLst/>
            <a:gdLst/>
            <a:ahLst/>
            <a:cxnLst/>
            <a:rect l="l" t="t" r="r" b="b"/>
            <a:pathLst>
              <a:path w="8762106" h="3263846">
                <a:moveTo>
                  <a:pt x="4381053" y="0"/>
                </a:moveTo>
                <a:cubicBezTo>
                  <a:pt x="6432653" y="0"/>
                  <a:pt x="8168637" y="1351310"/>
                  <a:pt x="8747505" y="3212428"/>
                </a:cubicBezTo>
                <a:lnTo>
                  <a:pt x="8762106" y="3263846"/>
                </a:lnTo>
                <a:lnTo>
                  <a:pt x="0" y="3263846"/>
                </a:lnTo>
                <a:lnTo>
                  <a:pt x="14601" y="3212428"/>
                </a:lnTo>
                <a:cubicBezTo>
                  <a:pt x="593469" y="1351310"/>
                  <a:pt x="2329453" y="0"/>
                  <a:pt x="4381053" y="0"/>
                </a:cubicBezTo>
                <a:close/>
              </a:path>
            </a:pathLst>
          </a:custGeom>
          <a:noFill/>
          <a:ln w="6636" cap="flat">
            <a:solidFill>
              <a:srgbClr val="1840D5"/>
            </a:solidFill>
            <a:prstDash val="solid"/>
            <a:miter lim="800000"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278311" y="3429000"/>
            <a:ext cx="7635377" cy="2908301"/>
          </a:xfrm>
          <a:custGeom>
            <a:avLst/>
            <a:gdLst/>
            <a:ahLst/>
            <a:cxnLst/>
            <a:rect l="l" t="t" r="r" b="b"/>
            <a:pathLst>
              <a:path w="7229225" h="2531839">
                <a:moveTo>
                  <a:pt x="3614612" y="0"/>
                </a:moveTo>
                <a:cubicBezTo>
                  <a:pt x="5210003" y="0"/>
                  <a:pt x="6578839" y="969990"/>
                  <a:pt x="7163546" y="2352392"/>
                </a:cubicBezTo>
                <a:lnTo>
                  <a:pt x="7229225" y="2531839"/>
                </a:lnTo>
                <a:lnTo>
                  <a:pt x="0" y="2531839"/>
                </a:lnTo>
                <a:lnTo>
                  <a:pt x="65678" y="2352392"/>
                </a:lnTo>
                <a:cubicBezTo>
                  <a:pt x="650385" y="969990"/>
                  <a:pt x="2019222" y="0"/>
                  <a:pt x="3614612" y="0"/>
                </a:cubicBezTo>
                <a:close/>
              </a:path>
            </a:pathLst>
          </a:custGeom>
          <a:blipFill>
            <a:blip r:embed="rId2"/>
            <a:tile tx="0" ty="0" sx="100000" sy="100000" algn="tl"/>
          </a:blipFill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308725"/>
            <a:ext cx="11164651" cy="549275"/>
          </a:xfrm>
          <a:prstGeom prst="rect">
            <a:avLst/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l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446883" y="2020270"/>
            <a:ext cx="2813050" cy="2275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Created DAX formulas for revenue, segmentation, and CLV.</a:t>
            </a:r>
            <a:endParaRPr lang="en-US" sz="1100"/>
          </a:p>
          <a:p>
            <a:pPr marL="0" algn="ctr">
              <a:lnSpc>
                <a:spcPct val="150000"/>
              </a:lnSpc>
            </a:pP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446883" y="1582093"/>
            <a:ext cx="2824708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+mn-ea"/>
                <a:ea typeface="+mn-ea"/>
              </a:rPr>
              <a:t>Advanced Measures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9053957" y="4072054"/>
            <a:ext cx="3101783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+mn-ea"/>
                <a:ea typeface="+mn-ea"/>
              </a:rPr>
              <a:t>Real-World Simulation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9053957" y="4510231"/>
            <a:ext cx="3101783" cy="199868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Applied music analytics principles to a simulated dataset with 11 tables.</a:t>
            </a:r>
            <a:endParaRPr lang="en-US" sz="1100"/>
          </a:p>
          <a:p>
            <a:pPr marL="0" algn="ctr">
              <a:lnSpc>
                <a:spcPct val="150000"/>
              </a:lnSpc>
            </a:pP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56667" y="4113309"/>
            <a:ext cx="2675185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+mn-ea"/>
                <a:ea typeface="+mn-ea"/>
              </a:rPr>
              <a:t>Actionable Insights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6666" y="4551486"/>
            <a:ext cx="2675185" cy="25360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Delivered findings on customer behavior, content performance, and revenue drivers.</a:t>
            </a:r>
            <a:endParaRPr lang="en-US" sz="1100"/>
          </a:p>
          <a:p>
            <a:pPr marL="0" algn="ctr">
              <a:lnSpc>
                <a:spcPct val="150000"/>
              </a:lnSpc>
            </a:pP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161096" y="1516967"/>
            <a:ext cx="3251199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+mn-ea"/>
                <a:ea typeface="+mn-ea"/>
              </a:rPr>
              <a:t>Executive UI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161096" y="1955144"/>
            <a:ext cx="3251199" cy="199868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Designed a clean, Apple-style interface with rounded cards and blue accent (#0071E3).</a:t>
            </a:r>
            <a:endParaRPr lang="en-US" sz="1100"/>
          </a:p>
          <a:p>
            <a:pPr marL="0" algn="ctr">
              <a:lnSpc>
                <a:spcPct val="150000"/>
              </a:lnSpc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670550" y="1811405"/>
            <a:ext cx="11303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1840D5"/>
                </a:solidFill>
                <a:latin typeface="Calibri"/>
                <a:ea typeface="Calibri"/>
              </a:rPr>
              <a:t> 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90744" y="1479230"/>
            <a:ext cx="3251199" cy="1749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30000"/>
              </a:lnSpc>
              <a:defRPr/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Built a fully functional BI system with Power BI and SQL.</a:t>
            </a:r>
            <a:endParaRPr lang="en-US" sz="1100"/>
          </a:p>
          <a:p>
            <a:pPr marL="0" algn="ctr">
              <a:lnSpc>
                <a:spcPct val="130000"/>
              </a:lnSpc>
            </a:pP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590744" y="1107661"/>
            <a:ext cx="3251199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latin typeface="+mn-ea"/>
                <a:ea typeface="+mn-ea"/>
              </a:rPr>
              <a:t>Interactive Dashboard</a:t>
            </a:r>
            <a:endParaRPr lang="en-US" sz="1100"/>
          </a:p>
        </p:txBody>
      </p:sp>
      <p:grpSp>
        <p:nvGrpSpPr>
          <p:cNvPr id="16" name="Group 16"/>
          <p:cNvGrpSpPr/>
          <p:nvPr/>
        </p:nvGrpSpPr>
        <p:grpSpPr>
          <a:xfrm>
            <a:off x="3233641" y="3950375"/>
            <a:ext cx="300567" cy="301331"/>
            <a:chOff x="3934145" y="1576902"/>
            <a:chExt cx="300567" cy="301331"/>
          </a:xfrm>
        </p:grpSpPr>
        <p:grpSp>
          <p:nvGrpSpPr>
            <p:cNvPr id="17" name="Group 17"/>
            <p:cNvGrpSpPr/>
            <p:nvPr/>
          </p:nvGrpSpPr>
          <p:grpSpPr>
            <a:xfrm>
              <a:off x="3964084" y="1606917"/>
              <a:ext cx="240688" cy="241300"/>
              <a:chOff x="4699534" y="705384"/>
              <a:chExt cx="279400" cy="279400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4699534" y="705384"/>
                <a:ext cx="279400" cy="279400"/>
              </a:xfrm>
              <a:prstGeom prst="ellipse">
                <a:avLst/>
              </a:prstGeom>
              <a:solidFill>
                <a:srgbClr val="1840D5">
                  <a:alpha val="43000"/>
                </a:srgbClr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4745877" y="751746"/>
                <a:ext cx="171970" cy="1719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3934145" y="1576902"/>
              <a:ext cx="300567" cy="30133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98256" y="5300675"/>
            <a:ext cx="300567" cy="301331"/>
            <a:chOff x="3934145" y="1576902"/>
            <a:chExt cx="300567" cy="301331"/>
          </a:xfrm>
        </p:grpSpPr>
        <p:grpSp>
          <p:nvGrpSpPr>
            <p:cNvPr id="22" name="Group 22"/>
            <p:cNvGrpSpPr/>
            <p:nvPr/>
          </p:nvGrpSpPr>
          <p:grpSpPr>
            <a:xfrm>
              <a:off x="3964084" y="1606917"/>
              <a:ext cx="240688" cy="241300"/>
              <a:chOff x="4699534" y="705384"/>
              <a:chExt cx="279400" cy="279400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4699534" y="705384"/>
                <a:ext cx="279400" cy="279400"/>
              </a:xfrm>
              <a:prstGeom prst="ellipse">
                <a:avLst/>
              </a:prstGeom>
              <a:solidFill>
                <a:srgbClr val="1840D5">
                  <a:alpha val="43000"/>
                </a:srgbClr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4" name="AutoShape 24"/>
              <p:cNvSpPr/>
              <p:nvPr/>
            </p:nvSpPr>
            <p:spPr>
              <a:xfrm>
                <a:off x="4745877" y="751746"/>
                <a:ext cx="171970" cy="1719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3934145" y="1576902"/>
              <a:ext cx="300567" cy="30133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45717" y="2924438"/>
            <a:ext cx="300567" cy="301331"/>
            <a:chOff x="3934145" y="1576902"/>
            <a:chExt cx="300567" cy="301331"/>
          </a:xfrm>
        </p:grpSpPr>
        <p:grpSp>
          <p:nvGrpSpPr>
            <p:cNvPr id="27" name="Group 27"/>
            <p:cNvGrpSpPr/>
            <p:nvPr/>
          </p:nvGrpSpPr>
          <p:grpSpPr>
            <a:xfrm>
              <a:off x="3964084" y="1606917"/>
              <a:ext cx="240688" cy="241300"/>
              <a:chOff x="4699534" y="705384"/>
              <a:chExt cx="279400" cy="279400"/>
            </a:xfrm>
          </p:grpSpPr>
          <p:sp>
            <p:nvSpPr>
              <p:cNvPr id="28" name="AutoShape 28"/>
              <p:cNvSpPr/>
              <p:nvPr/>
            </p:nvSpPr>
            <p:spPr>
              <a:xfrm>
                <a:off x="4699534" y="705384"/>
                <a:ext cx="279400" cy="279400"/>
              </a:xfrm>
              <a:prstGeom prst="ellipse">
                <a:avLst/>
              </a:prstGeom>
              <a:solidFill>
                <a:srgbClr val="1840D5">
                  <a:alpha val="43000"/>
                </a:srgbClr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9" name="AutoShape 29"/>
              <p:cNvSpPr/>
              <p:nvPr/>
            </p:nvSpPr>
            <p:spPr>
              <a:xfrm>
                <a:off x="4745877" y="751746"/>
                <a:ext cx="171970" cy="1719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3934145" y="1576902"/>
              <a:ext cx="300567" cy="30133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37615" y="3950375"/>
            <a:ext cx="300567" cy="301331"/>
            <a:chOff x="3934145" y="1576902"/>
            <a:chExt cx="300567" cy="301331"/>
          </a:xfrm>
        </p:grpSpPr>
        <p:grpSp>
          <p:nvGrpSpPr>
            <p:cNvPr id="32" name="Group 32"/>
            <p:cNvGrpSpPr/>
            <p:nvPr/>
          </p:nvGrpSpPr>
          <p:grpSpPr>
            <a:xfrm>
              <a:off x="3964084" y="1606917"/>
              <a:ext cx="240688" cy="241300"/>
              <a:chOff x="4699534" y="705384"/>
              <a:chExt cx="279400" cy="279400"/>
            </a:xfrm>
          </p:grpSpPr>
          <p:sp>
            <p:nvSpPr>
              <p:cNvPr id="33" name="AutoShape 33"/>
              <p:cNvSpPr/>
              <p:nvPr/>
            </p:nvSpPr>
            <p:spPr>
              <a:xfrm>
                <a:off x="4699534" y="705384"/>
                <a:ext cx="279400" cy="279400"/>
              </a:xfrm>
              <a:prstGeom prst="ellipse">
                <a:avLst/>
              </a:prstGeom>
              <a:solidFill>
                <a:srgbClr val="1840D5">
                  <a:alpha val="43000"/>
                </a:srgbClr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4" name="AutoShape 34"/>
              <p:cNvSpPr/>
              <p:nvPr/>
            </p:nvSpPr>
            <p:spPr>
              <a:xfrm>
                <a:off x="4745877" y="751746"/>
                <a:ext cx="171970" cy="1719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35" name="AutoShape 35"/>
            <p:cNvSpPr/>
            <p:nvPr/>
          </p:nvSpPr>
          <p:spPr>
            <a:xfrm>
              <a:off x="3934145" y="1576902"/>
              <a:ext cx="300567" cy="30133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81020" y="5234000"/>
            <a:ext cx="300567" cy="301331"/>
            <a:chOff x="3934145" y="1576902"/>
            <a:chExt cx="300567" cy="301331"/>
          </a:xfrm>
        </p:grpSpPr>
        <p:grpSp>
          <p:nvGrpSpPr>
            <p:cNvPr id="37" name="Group 37"/>
            <p:cNvGrpSpPr/>
            <p:nvPr/>
          </p:nvGrpSpPr>
          <p:grpSpPr>
            <a:xfrm>
              <a:off x="3964084" y="1606917"/>
              <a:ext cx="240688" cy="241300"/>
              <a:chOff x="4699534" y="705384"/>
              <a:chExt cx="279400" cy="279400"/>
            </a:xfrm>
          </p:grpSpPr>
          <p:sp>
            <p:nvSpPr>
              <p:cNvPr id="38" name="AutoShape 38"/>
              <p:cNvSpPr/>
              <p:nvPr/>
            </p:nvSpPr>
            <p:spPr>
              <a:xfrm>
                <a:off x="4699534" y="705384"/>
                <a:ext cx="279400" cy="279400"/>
              </a:xfrm>
              <a:prstGeom prst="ellipse">
                <a:avLst/>
              </a:prstGeom>
              <a:solidFill>
                <a:srgbClr val="1840D5">
                  <a:alpha val="43000"/>
                </a:srgbClr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4745877" y="751746"/>
                <a:ext cx="171970" cy="1719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lIns="91440" tIns="45720" rIns="91440" bIns="45720" anchor="ctr">
                <a:sp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40" name="AutoShape 40"/>
            <p:cNvSpPr/>
            <p:nvPr/>
          </p:nvSpPr>
          <p:spPr>
            <a:xfrm>
              <a:off x="3934145" y="1576902"/>
              <a:ext cx="300567" cy="30133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Achievements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1720850" y="1448253"/>
            <a:ext cx="8750300" cy="1980747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 baseline="0" dirty="0">
                <a:solidFill>
                  <a:srgbClr val="000000"/>
                </a:solidFill>
                <a:latin typeface="Goudy Stout" panose="0202090407030B020401" pitchFamily="18" charset="0"/>
                <a:ea typeface="Arial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958EE"/>
      </a:accent1>
      <a:accent2>
        <a:srgbClr val="CE64EE"/>
      </a:accent2>
      <a:accent3>
        <a:srgbClr val="687CF3"/>
      </a:accent3>
      <a:accent4>
        <a:srgbClr val="B1B2ED"/>
      </a:accent4>
      <a:accent5>
        <a:srgbClr val="B8B7BE"/>
      </a:accent5>
      <a:accent6>
        <a:srgbClr val="95939D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4158</Words>
  <Application>Microsoft Office PowerPoint</Application>
  <PresentationFormat>Widescreen</PresentationFormat>
  <Paragraphs>288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微软雅黑</vt:lpstr>
      <vt:lpstr>微软雅黑</vt:lpstr>
      <vt:lpstr>Arial</vt:lpstr>
      <vt:lpstr>Berlin Sans FB Demi</vt:lpstr>
      <vt:lpstr>Calibri</vt:lpstr>
      <vt:lpstr>Eras Bold ITC</vt:lpstr>
      <vt:lpstr>Goudy Stout</vt:lpstr>
      <vt:lpstr>Times New Roman</vt:lpstr>
      <vt:lpstr>思源黑体 CN Bold</vt:lpstr>
      <vt:lpstr>思源黑体 CN Regular</vt:lpstr>
      <vt:lpstr>Office Theme</vt:lpstr>
      <vt:lpstr>Apple iTunes Business Intelligence Dashboard</vt:lpstr>
      <vt:lpstr>PowerPoint Presentation</vt:lpstr>
      <vt:lpstr>Business Goals</vt:lpstr>
      <vt:lpstr>Customer Intelligence</vt:lpstr>
      <vt:lpstr>Content Analysis</vt:lpstr>
      <vt:lpstr>Performance Analytics</vt:lpstr>
      <vt:lpstr>Revenue Intelligence</vt:lpstr>
      <vt:lpstr>Growth Opportunities</vt:lpstr>
      <vt:lpstr>Dataset Architecture</vt:lpstr>
      <vt:lpstr>PowerPoint Presentation</vt:lpstr>
      <vt:lpstr>PowerPoint Presentation</vt:lpstr>
      <vt:lpstr>Technology Stack</vt:lpstr>
      <vt:lpstr>PowerPoint Presentation</vt:lpstr>
      <vt:lpstr>Dashboard Architecture</vt:lpstr>
      <vt:lpstr>PowerPoint Presentation</vt:lpstr>
      <vt:lpstr>PowerPoint Presentation</vt:lpstr>
      <vt:lpstr>PowerPoint Presentation</vt:lpstr>
      <vt:lpstr>Executive Overview Dashboard</vt:lpstr>
      <vt:lpstr>PowerPoint Presentation</vt:lpstr>
      <vt:lpstr>Business Insights</vt:lpstr>
      <vt:lpstr>PowerPoint Presentation</vt:lpstr>
      <vt:lpstr>Customer Intelligence</vt:lpstr>
      <vt:lpstr>PowerPoint Presentation</vt:lpstr>
      <vt:lpstr>Business Insights</vt:lpstr>
      <vt:lpstr>PowerPoint Presentation</vt:lpstr>
      <vt:lpstr>Music Intelligence</vt:lpstr>
      <vt:lpstr>PowerPoint Presentation</vt:lpstr>
      <vt:lpstr>Business Insights</vt:lpstr>
      <vt:lpstr>PowerPoint Presentation</vt:lpstr>
      <vt:lpstr>Insights Hub</vt:lpstr>
      <vt:lpstr>PowerPoint Presentation</vt:lpstr>
      <vt:lpstr>Business Insights</vt:lpstr>
      <vt:lpstr>PowerPoint Presentation</vt:lpstr>
      <vt:lpstr>Advanced DAX Measures</vt:lpstr>
      <vt:lpstr>PowerPoint Presentation</vt:lpstr>
      <vt:lpstr>Key Business Insights</vt:lpstr>
      <vt:lpstr>PowerPoint Presentation</vt:lpstr>
      <vt:lpstr>Conclusion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Piyush Dash</cp:lastModifiedBy>
  <cp:revision>4</cp:revision>
  <dcterms:created xsi:type="dcterms:W3CDTF">2026-05-20T06:58:28Z</dcterms:created>
  <dcterms:modified xsi:type="dcterms:W3CDTF">2026-05-20T08:08:00Z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{"ContentPropagator":"文多多","Label":"1","ReservedCode1":"1779260308895","ProduceID":"wenduoduo-pptx-1779260308895","ReservedCode2":"1779260308895","PropagateID":"wenduoduo-pptx1779260308895","ContentProducer":"文多多"}</vt:lpwstr>
  </property>
</Properties>
</file>